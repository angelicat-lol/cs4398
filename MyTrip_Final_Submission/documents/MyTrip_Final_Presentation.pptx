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7" r:id="rId13"/>
    <p:sldId id="266" r:id="rId14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" name="Shape 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ptos"/>
      </a:defRPr>
    </a:lvl1pPr>
    <a:lvl2pPr indent="228600" latinLnBrk="0">
      <a:defRPr sz="1200">
        <a:latin typeface="+mj-lt"/>
        <a:ea typeface="+mj-ea"/>
        <a:cs typeface="+mj-cs"/>
        <a:sym typeface="Aptos"/>
      </a:defRPr>
    </a:lvl2pPr>
    <a:lvl3pPr indent="457200" latinLnBrk="0">
      <a:defRPr sz="1200">
        <a:latin typeface="+mj-lt"/>
        <a:ea typeface="+mj-ea"/>
        <a:cs typeface="+mj-cs"/>
        <a:sym typeface="Aptos"/>
      </a:defRPr>
    </a:lvl3pPr>
    <a:lvl4pPr indent="685800" latinLnBrk="0">
      <a:defRPr sz="1200">
        <a:latin typeface="+mj-lt"/>
        <a:ea typeface="+mj-ea"/>
        <a:cs typeface="+mj-cs"/>
        <a:sym typeface="Aptos"/>
      </a:defRPr>
    </a:lvl4pPr>
    <a:lvl5pPr indent="914400" latinLnBrk="0">
      <a:defRPr sz="1200">
        <a:latin typeface="+mj-lt"/>
        <a:ea typeface="+mj-ea"/>
        <a:cs typeface="+mj-cs"/>
        <a:sym typeface="Aptos"/>
      </a:defRPr>
    </a:lvl5pPr>
    <a:lvl6pPr indent="1143000" latinLnBrk="0">
      <a:defRPr sz="1200">
        <a:latin typeface="+mj-lt"/>
        <a:ea typeface="+mj-ea"/>
        <a:cs typeface="+mj-cs"/>
        <a:sym typeface="Aptos"/>
      </a:defRPr>
    </a:lvl6pPr>
    <a:lvl7pPr indent="1371600" latinLnBrk="0">
      <a:defRPr sz="1200">
        <a:latin typeface="+mj-lt"/>
        <a:ea typeface="+mj-ea"/>
        <a:cs typeface="+mj-cs"/>
        <a:sym typeface="Aptos"/>
      </a:defRPr>
    </a:lvl7pPr>
    <a:lvl8pPr indent="1600200" latinLnBrk="0">
      <a:defRPr sz="1200">
        <a:latin typeface="+mj-lt"/>
        <a:ea typeface="+mj-ea"/>
        <a:cs typeface="+mj-cs"/>
        <a:sym typeface="Aptos"/>
      </a:defRPr>
    </a:lvl8pPr>
    <a:lvl9pPr indent="1828800" latinLnBrk="0">
      <a:defRPr sz="1200">
        <a:latin typeface="+mj-lt"/>
        <a:ea typeface="+mj-ea"/>
        <a:cs typeface="+mj-cs"/>
        <a:sym typeface="Apto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YTRIP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86661" y="6172200"/>
            <a:ext cx="2841838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 txBox="1"/>
          <p:nvPr/>
        </p:nvSpPr>
        <p:spPr>
          <a:xfrm>
            <a:off x="731519" y="779779"/>
            <a:ext cx="73152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800"/>
            </a:lvl1pPr>
          </a:lstStyle>
          <a:p>
            <a:r>
              <a:t>🚗</a:t>
            </a:r>
          </a:p>
        </p:txBody>
      </p:sp>
      <p:sp>
        <p:nvSpPr>
          <p:cNvPr id="28" name="Text 1"/>
          <p:cNvSpPr txBox="1"/>
          <p:nvPr/>
        </p:nvSpPr>
        <p:spPr>
          <a:xfrm>
            <a:off x="685800" y="1493520"/>
            <a:ext cx="54864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0" b="1">
                <a:solidFill>
                  <a:srgbClr val="17324D"/>
                </a:solidFill>
              </a:defRPr>
            </a:lvl1pPr>
          </a:lstStyle>
          <a:p>
            <a:r>
              <a:t>MyTrip</a:t>
            </a:r>
          </a:p>
        </p:txBody>
      </p:sp>
      <p:sp>
        <p:nvSpPr>
          <p:cNvPr id="29" name="Text 2"/>
          <p:cNvSpPr txBox="1"/>
          <p:nvPr/>
        </p:nvSpPr>
        <p:spPr>
          <a:xfrm>
            <a:off x="731520" y="2322068"/>
            <a:ext cx="7132319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5F6B7A"/>
                </a:solidFill>
              </a:defRPr>
            </a:lvl1pPr>
          </a:lstStyle>
          <a:p>
            <a:r>
              <a:t>Budget Road Trip Planner</a:t>
            </a:r>
          </a:p>
        </p:txBody>
      </p:sp>
      <p:sp>
        <p:nvSpPr>
          <p:cNvPr id="30" name="Shape 3"/>
          <p:cNvSpPr/>
          <p:nvPr/>
        </p:nvSpPr>
        <p:spPr>
          <a:xfrm>
            <a:off x="777239" y="2907792"/>
            <a:ext cx="4663442" cy="1"/>
          </a:xfrm>
          <a:prstGeom prst="line">
            <a:avLst/>
          </a:prstGeom>
          <a:ln w="38100">
            <a:solidFill>
              <a:srgbClr val="2FA4A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" name="Text 4"/>
          <p:cNvSpPr txBox="1"/>
          <p:nvPr/>
        </p:nvSpPr>
        <p:spPr>
          <a:xfrm>
            <a:off x="777240" y="3279140"/>
            <a:ext cx="64008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1F2937"/>
                </a:solidFill>
              </a:defRPr>
            </a:lvl1pPr>
          </a:lstStyle>
          <a:p>
            <a:r>
              <a:t>CS 4398 – Software Engineering Project</a:t>
            </a:r>
          </a:p>
        </p:txBody>
      </p:sp>
      <p:sp>
        <p:nvSpPr>
          <p:cNvPr id="32" name="Text 5"/>
          <p:cNvSpPr txBox="1"/>
          <p:nvPr/>
        </p:nvSpPr>
        <p:spPr>
          <a:xfrm>
            <a:off x="777240" y="3686810"/>
            <a:ext cx="64008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5F6B7A"/>
                </a:solidFill>
              </a:defRPr>
            </a:lvl1pPr>
          </a:lstStyle>
          <a:p>
            <a:r>
              <a:t>Texas State University · Summer 2026</a:t>
            </a:r>
          </a:p>
        </p:txBody>
      </p:sp>
      <p:sp>
        <p:nvSpPr>
          <p:cNvPr id="33" name="Text 6"/>
          <p:cNvSpPr txBox="1"/>
          <p:nvPr/>
        </p:nvSpPr>
        <p:spPr>
          <a:xfrm>
            <a:off x="777240" y="4212590"/>
            <a:ext cx="77724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1F2937"/>
                </a:solidFill>
              </a:defRPr>
            </a:lvl1pPr>
          </a:lstStyle>
          <a:p>
            <a:r>
              <a:t>Mustafa Al Azzawi · Angelica Alvarado · William Parker</a:t>
            </a:r>
          </a:p>
        </p:txBody>
      </p:sp>
      <p:sp>
        <p:nvSpPr>
          <p:cNvPr id="34" name="Shape 7"/>
          <p:cNvSpPr/>
          <p:nvPr/>
        </p:nvSpPr>
        <p:spPr>
          <a:xfrm>
            <a:off x="7543799" y="1828800"/>
            <a:ext cx="3017522" cy="0"/>
          </a:xfrm>
          <a:prstGeom prst="line">
            <a:avLst/>
          </a:prstGeom>
          <a:ln w="38100">
            <a:solidFill>
              <a:srgbClr val="17324D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" name="Shape 8"/>
          <p:cNvSpPr/>
          <p:nvPr/>
        </p:nvSpPr>
        <p:spPr>
          <a:xfrm>
            <a:off x="7543799" y="3108960"/>
            <a:ext cx="3017522" cy="1"/>
          </a:xfrm>
          <a:prstGeom prst="line">
            <a:avLst/>
          </a:prstGeom>
          <a:ln w="38100">
            <a:solidFill>
              <a:srgbClr val="2FA4A9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6" name="Text 9"/>
          <p:cNvSpPr txBox="1"/>
          <p:nvPr/>
        </p:nvSpPr>
        <p:spPr>
          <a:xfrm>
            <a:off x="7589519" y="1433829"/>
            <a:ext cx="118872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 b="1">
                <a:solidFill>
                  <a:srgbClr val="17324D"/>
                </a:solidFill>
              </a:defRPr>
            </a:lvl1pPr>
          </a:lstStyle>
          <a:p>
            <a:r>
              <a:t>Route</a:t>
            </a:r>
          </a:p>
        </p:txBody>
      </p:sp>
      <p:sp>
        <p:nvSpPr>
          <p:cNvPr id="37" name="Text 10"/>
          <p:cNvSpPr txBox="1"/>
          <p:nvPr/>
        </p:nvSpPr>
        <p:spPr>
          <a:xfrm>
            <a:off x="9784080" y="2713989"/>
            <a:ext cx="118872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 b="1">
                <a:solidFill>
                  <a:srgbClr val="2FA4A9"/>
                </a:solidFill>
              </a:defRPr>
            </a:lvl1pPr>
          </a:lstStyle>
          <a:p>
            <a:r>
              <a:t>Cost</a:t>
            </a:r>
          </a:p>
        </p:txBody>
      </p:sp>
      <p:sp>
        <p:nvSpPr>
          <p:cNvPr id="38" name="Text 11"/>
          <p:cNvSpPr txBox="1"/>
          <p:nvPr/>
        </p:nvSpPr>
        <p:spPr>
          <a:xfrm>
            <a:off x="7589519" y="3856989"/>
            <a:ext cx="146304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 b="1">
                <a:solidFill>
                  <a:srgbClr val="2F855A"/>
                </a:solidFill>
              </a:defRPr>
            </a:lvl1pPr>
          </a:lstStyle>
          <a:p>
            <a:r>
              <a:t>Budget</a:t>
            </a:r>
          </a:p>
        </p:txBody>
      </p:sp>
      <p:sp>
        <p:nvSpPr>
          <p:cNvPr id="39" name="Shape 12"/>
          <p:cNvSpPr/>
          <p:nvPr/>
        </p:nvSpPr>
        <p:spPr>
          <a:xfrm>
            <a:off x="7543799" y="4251959"/>
            <a:ext cx="3017522" cy="1"/>
          </a:xfrm>
          <a:prstGeom prst="line">
            <a:avLst/>
          </a:prstGeom>
          <a:ln w="38100">
            <a:solidFill>
              <a:srgbClr val="2F855A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" name="Shape 13"/>
          <p:cNvSpPr/>
          <p:nvPr/>
        </p:nvSpPr>
        <p:spPr>
          <a:xfrm>
            <a:off x="411479" y="6419088"/>
            <a:ext cx="11384282" cy="1"/>
          </a:xfrm>
          <a:prstGeom prst="line">
            <a:avLst/>
          </a:prstGeom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" name="Text 14"/>
          <p:cNvSpPr txBox="1"/>
          <p:nvPr/>
        </p:nvSpPr>
        <p:spPr>
          <a:xfrm>
            <a:off x="502919" y="6543040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5F6B7A"/>
                </a:solidFill>
              </a:defRPr>
            </a:lvl1pPr>
          </a:lstStyle>
          <a:p>
            <a:r>
              <a:t>MyTrip · CS 4398 · Texas State University · Summer 2026</a:t>
            </a:r>
          </a:p>
        </p:txBody>
      </p:sp>
      <p:sp>
        <p:nvSpPr>
          <p:cNvPr id="42" name="Text 15"/>
          <p:cNvSpPr txBox="1"/>
          <p:nvPr/>
        </p:nvSpPr>
        <p:spPr>
          <a:xfrm>
            <a:off x="11384280" y="6529324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5F6B7A"/>
                </a:solidFill>
              </a:defRPr>
            </a:lvl1pPr>
          </a:lstStyle>
          <a:p>
            <a:r>
              <a:t>01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 txBox="1"/>
          <p:nvPr/>
        </p:nvSpPr>
        <p:spPr>
          <a:xfrm>
            <a:off x="502919" y="335280"/>
            <a:ext cx="41148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200"/>
            </a:lvl1pPr>
          </a:lstStyle>
          <a:p>
            <a:r>
              <a:t>🧭</a:t>
            </a:r>
          </a:p>
        </p:txBody>
      </p:sp>
      <p:sp>
        <p:nvSpPr>
          <p:cNvPr id="45" name="Text 1"/>
          <p:cNvSpPr txBox="1"/>
          <p:nvPr/>
        </p:nvSpPr>
        <p:spPr>
          <a:xfrm>
            <a:off x="1005839" y="298703"/>
            <a:ext cx="987552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5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t>Project overview</a:t>
            </a:r>
          </a:p>
        </p:txBody>
      </p:sp>
      <p:sp>
        <p:nvSpPr>
          <p:cNvPr id="46" name="Text 2"/>
          <p:cNvSpPr txBox="1"/>
          <p:nvPr/>
        </p:nvSpPr>
        <p:spPr>
          <a:xfrm>
            <a:off x="1024127" y="820928"/>
            <a:ext cx="987552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F6B7A"/>
                </a:solidFill>
              </a:defRPr>
            </a:lvl1pPr>
          </a:lstStyle>
          <a:p>
            <a:r>
              <a:t>One simple workflow for planning a road trip</a:t>
            </a:r>
          </a:p>
        </p:txBody>
      </p:sp>
      <p:sp>
        <p:nvSpPr>
          <p:cNvPr id="47" name="Shape 3"/>
          <p:cNvSpPr/>
          <p:nvPr/>
        </p:nvSpPr>
        <p:spPr>
          <a:xfrm>
            <a:off x="411479" y="6419088"/>
            <a:ext cx="11384282" cy="1"/>
          </a:xfrm>
          <a:prstGeom prst="line">
            <a:avLst/>
          </a:prstGeom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8" name="Text 4"/>
          <p:cNvSpPr txBox="1"/>
          <p:nvPr/>
        </p:nvSpPr>
        <p:spPr>
          <a:xfrm>
            <a:off x="502919" y="6543040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5F6B7A"/>
                </a:solidFill>
              </a:defRPr>
            </a:lvl1pPr>
          </a:lstStyle>
          <a:p>
            <a:r>
              <a:t>MyTrip · CS 4398 · Texas State University · Summer 2026</a:t>
            </a:r>
          </a:p>
        </p:txBody>
      </p:sp>
      <p:sp>
        <p:nvSpPr>
          <p:cNvPr id="49" name="Text 5"/>
          <p:cNvSpPr txBox="1"/>
          <p:nvPr/>
        </p:nvSpPr>
        <p:spPr>
          <a:xfrm>
            <a:off x="11384280" y="6529324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5F6B7A"/>
                </a:solidFill>
              </a:defRPr>
            </a:lvl1pPr>
          </a:lstStyle>
          <a:p>
            <a:r>
              <a:t>02</a:t>
            </a:r>
          </a:p>
        </p:txBody>
      </p:sp>
      <p:sp>
        <p:nvSpPr>
          <p:cNvPr id="50" name="Shape 6"/>
          <p:cNvSpPr/>
          <p:nvPr/>
        </p:nvSpPr>
        <p:spPr>
          <a:xfrm>
            <a:off x="731519" y="1417319"/>
            <a:ext cx="3474722" cy="1143001"/>
          </a:xfrm>
          <a:prstGeom prst="roundRect">
            <a:avLst>
              <a:gd name="adj" fmla="val 9600"/>
            </a:avLst>
          </a:prstGeom>
          <a:solidFill>
            <a:srgbClr val="EAF4FF"/>
          </a:solidFill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" name="Text 7"/>
          <p:cNvSpPr txBox="1"/>
          <p:nvPr/>
        </p:nvSpPr>
        <p:spPr>
          <a:xfrm>
            <a:off x="896111" y="1589531"/>
            <a:ext cx="41148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/>
            </a:lvl1pPr>
          </a:lstStyle>
          <a:p>
            <a:r>
              <a:t>1</a:t>
            </a:r>
          </a:p>
        </p:txBody>
      </p:sp>
      <p:sp>
        <p:nvSpPr>
          <p:cNvPr id="52" name="Text 8"/>
          <p:cNvSpPr txBox="1"/>
          <p:nvPr/>
        </p:nvSpPr>
        <p:spPr>
          <a:xfrm>
            <a:off x="1389888" y="1586483"/>
            <a:ext cx="26517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17324D"/>
                </a:solidFill>
              </a:defRPr>
            </a:lvl1pPr>
          </a:lstStyle>
          <a:p>
            <a:r>
              <a:t>Plan a route</a:t>
            </a:r>
          </a:p>
        </p:txBody>
      </p:sp>
      <p:sp>
        <p:nvSpPr>
          <p:cNvPr id="53" name="Text 9"/>
          <p:cNvSpPr txBox="1"/>
          <p:nvPr/>
        </p:nvSpPr>
        <p:spPr>
          <a:xfrm>
            <a:off x="1389888" y="1920239"/>
            <a:ext cx="265176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" tIns="253" rIns="253" bIns="253" anchor="ctr">
            <a:normAutofit/>
          </a:bodyPr>
          <a:lstStyle>
            <a:lvl1pPr>
              <a:defRPr sz="1100">
                <a:solidFill>
                  <a:srgbClr val="1F2937"/>
                </a:solidFill>
              </a:defRPr>
            </a:lvl1pPr>
          </a:lstStyle>
          <a:p>
            <a:r>
              <a:t>Traveler enters starting point, optional waypoint, and destination.</a:t>
            </a:r>
          </a:p>
        </p:txBody>
      </p:sp>
      <p:sp>
        <p:nvSpPr>
          <p:cNvPr id="54" name="Shape 10"/>
          <p:cNvSpPr/>
          <p:nvPr/>
        </p:nvSpPr>
        <p:spPr>
          <a:xfrm>
            <a:off x="4434840" y="1417319"/>
            <a:ext cx="3474721" cy="1143001"/>
          </a:xfrm>
          <a:prstGeom prst="roundRect">
            <a:avLst>
              <a:gd name="adj" fmla="val 9600"/>
            </a:avLst>
          </a:prstGeom>
          <a:solidFill>
            <a:srgbClr val="E9F8F8"/>
          </a:solidFill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" name="Text 11"/>
          <p:cNvSpPr txBox="1"/>
          <p:nvPr/>
        </p:nvSpPr>
        <p:spPr>
          <a:xfrm>
            <a:off x="4599432" y="1589531"/>
            <a:ext cx="41148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/>
            </a:lvl1pPr>
          </a:lstStyle>
          <a:p>
            <a:r>
              <a:t>2</a:t>
            </a:r>
          </a:p>
        </p:txBody>
      </p:sp>
      <p:sp>
        <p:nvSpPr>
          <p:cNvPr id="56" name="Text 12"/>
          <p:cNvSpPr txBox="1"/>
          <p:nvPr/>
        </p:nvSpPr>
        <p:spPr>
          <a:xfrm>
            <a:off x="5093208" y="1586483"/>
            <a:ext cx="26517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17324D"/>
                </a:solidFill>
              </a:defRPr>
            </a:lvl1pPr>
          </a:lstStyle>
          <a:p>
            <a:r>
              <a:t>Estimate costs</a:t>
            </a:r>
          </a:p>
        </p:txBody>
      </p:sp>
      <p:sp>
        <p:nvSpPr>
          <p:cNvPr id="57" name="Text 13"/>
          <p:cNvSpPr txBox="1"/>
          <p:nvPr/>
        </p:nvSpPr>
        <p:spPr>
          <a:xfrm>
            <a:off x="5093208" y="1920239"/>
            <a:ext cx="265176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" tIns="253" rIns="253" bIns="253" anchor="ctr">
            <a:normAutofit/>
          </a:bodyPr>
          <a:lstStyle>
            <a:lvl1pPr>
              <a:defRPr sz="1100">
                <a:solidFill>
                  <a:srgbClr val="1F2937"/>
                </a:solidFill>
              </a:defRPr>
            </a:lvl1pPr>
          </a:lstStyle>
          <a:p>
            <a:r>
              <a:t>MyTrip calculates fuel cost, total estimated cost, and drive time.</a:t>
            </a:r>
          </a:p>
        </p:txBody>
      </p:sp>
      <p:sp>
        <p:nvSpPr>
          <p:cNvPr id="58" name="Shape 14"/>
          <p:cNvSpPr/>
          <p:nvPr/>
        </p:nvSpPr>
        <p:spPr>
          <a:xfrm>
            <a:off x="8138159" y="1417319"/>
            <a:ext cx="3474721" cy="1143001"/>
          </a:xfrm>
          <a:prstGeom prst="roundRect">
            <a:avLst>
              <a:gd name="adj" fmla="val 9600"/>
            </a:avLst>
          </a:prstGeom>
          <a:solidFill>
            <a:srgbClr val="F0F8EA"/>
          </a:solidFill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" name="Text 15"/>
          <p:cNvSpPr txBox="1"/>
          <p:nvPr/>
        </p:nvSpPr>
        <p:spPr>
          <a:xfrm>
            <a:off x="8302752" y="1589531"/>
            <a:ext cx="41148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/>
            </a:lvl1pPr>
          </a:lstStyle>
          <a:p>
            <a:r>
              <a:t>3</a:t>
            </a:r>
          </a:p>
        </p:txBody>
      </p:sp>
      <p:sp>
        <p:nvSpPr>
          <p:cNvPr id="60" name="Text 16"/>
          <p:cNvSpPr txBox="1"/>
          <p:nvPr/>
        </p:nvSpPr>
        <p:spPr>
          <a:xfrm>
            <a:off x="8796528" y="1586483"/>
            <a:ext cx="26517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17324D"/>
                </a:solidFill>
              </a:defRPr>
            </a:lvl1pPr>
          </a:lstStyle>
          <a:p>
            <a:r>
              <a:t>Compare budget</a:t>
            </a:r>
          </a:p>
        </p:txBody>
      </p:sp>
      <p:sp>
        <p:nvSpPr>
          <p:cNvPr id="61" name="Text 17"/>
          <p:cNvSpPr txBox="1"/>
          <p:nvPr/>
        </p:nvSpPr>
        <p:spPr>
          <a:xfrm>
            <a:off x="8796528" y="1920239"/>
            <a:ext cx="265176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" tIns="253" rIns="253" bIns="253" anchor="ctr">
            <a:normAutofit/>
          </a:bodyPr>
          <a:lstStyle>
            <a:lvl1pPr>
              <a:defRPr sz="1100">
                <a:solidFill>
                  <a:srgbClr val="1F2937"/>
                </a:solidFill>
              </a:defRPr>
            </a:lvl1pPr>
          </a:lstStyle>
          <a:p>
            <a:r>
              <a:t>The summary shows if the trip is within the traveler’s target budget.</a:t>
            </a:r>
          </a:p>
        </p:txBody>
      </p:sp>
      <p:sp>
        <p:nvSpPr>
          <p:cNvPr id="62" name="Shape 18"/>
          <p:cNvSpPr/>
          <p:nvPr/>
        </p:nvSpPr>
        <p:spPr>
          <a:xfrm>
            <a:off x="731519" y="2880360"/>
            <a:ext cx="5394961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3" name="Image 0" descr="Image 0"/>
          <p:cNvPicPr>
            <a:picLocks noChangeAspect="1"/>
          </p:cNvPicPr>
          <p:nvPr/>
        </p:nvPicPr>
        <p:blipFill>
          <a:blip r:embed="rId2"/>
          <a:srcRect t="2047" b="2047"/>
          <a:stretch>
            <a:fillRect/>
          </a:stretch>
        </p:blipFill>
        <p:spPr>
          <a:xfrm>
            <a:off x="758951" y="2907792"/>
            <a:ext cx="5340098" cy="3008377"/>
          </a:xfrm>
          <a:prstGeom prst="rect">
            <a:avLst/>
          </a:prstGeom>
          <a:ln w="12700">
            <a:miter lim="400000"/>
          </a:ln>
        </p:spPr>
      </p:pic>
      <p:sp>
        <p:nvSpPr>
          <p:cNvPr id="64" name="Text 19"/>
          <p:cNvSpPr txBox="1"/>
          <p:nvPr/>
        </p:nvSpPr>
        <p:spPr>
          <a:xfrm>
            <a:off x="6537959" y="3246120"/>
            <a:ext cx="4480561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7" tIns="507" rIns="507" bIns="507" anchor="ctr">
            <a:normAutofit/>
          </a:bodyPr>
          <a:lstStyle>
            <a:lvl1pPr>
              <a:defRPr sz="2100" b="1">
                <a:solidFill>
                  <a:srgbClr val="17324D"/>
                </a:solidFill>
              </a:defRPr>
            </a:lvl1pPr>
          </a:lstStyle>
          <a:p>
            <a:r>
              <a:t>Home page starts the planning flow with a clean route search.</a:t>
            </a:r>
          </a:p>
        </p:txBody>
      </p:sp>
      <p:sp>
        <p:nvSpPr>
          <p:cNvPr id="65" name="Text 20"/>
          <p:cNvSpPr txBox="1"/>
          <p:nvPr/>
        </p:nvSpPr>
        <p:spPr>
          <a:xfrm>
            <a:off x="6583680" y="4389120"/>
            <a:ext cx="4480561" cy="1280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" tIns="380" rIns="380" bIns="380">
            <a:normAutofit/>
          </a:bodyPr>
          <a:lstStyle/>
          <a:p>
            <a:pPr>
              <a:defRPr>
                <a:solidFill>
                  <a:srgbClr val="1F2937"/>
                </a:solidFill>
              </a:defRPr>
            </a:pPr>
            <a:r>
              <a:t>• Web-based prototype</a:t>
            </a:r>
          </a:p>
          <a:p>
            <a:pPr>
              <a:defRPr>
                <a:solidFill>
                  <a:srgbClr val="1F2937"/>
                </a:solidFill>
              </a:defRPr>
            </a:pPr>
            <a:r>
              <a:t>• Easy to use for travelers</a:t>
            </a:r>
          </a:p>
          <a:p>
            <a:pPr>
              <a:defRPr>
                <a:solidFill>
                  <a:srgbClr val="1F2937"/>
                </a:solidFill>
              </a:defRPr>
            </a:pPr>
            <a:r>
              <a:t>• Designed for CS 4398 final project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 txBox="1"/>
          <p:nvPr/>
        </p:nvSpPr>
        <p:spPr>
          <a:xfrm>
            <a:off x="502919" y="335280"/>
            <a:ext cx="41148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200"/>
            </a:lvl1pPr>
          </a:lstStyle>
          <a:p>
            <a:r>
              <a:t>🎯</a:t>
            </a:r>
          </a:p>
        </p:txBody>
      </p:sp>
      <p:sp>
        <p:nvSpPr>
          <p:cNvPr id="68" name="Text 1"/>
          <p:cNvSpPr txBox="1"/>
          <p:nvPr/>
        </p:nvSpPr>
        <p:spPr>
          <a:xfrm>
            <a:off x="1005839" y="298703"/>
            <a:ext cx="987552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5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t>Project purpose</a:t>
            </a:r>
          </a:p>
        </p:txBody>
      </p:sp>
      <p:sp>
        <p:nvSpPr>
          <p:cNvPr id="69" name="Text 2"/>
          <p:cNvSpPr txBox="1"/>
          <p:nvPr/>
        </p:nvSpPr>
        <p:spPr>
          <a:xfrm>
            <a:off x="1024127" y="820928"/>
            <a:ext cx="987552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F6B7A"/>
                </a:solidFill>
              </a:defRPr>
            </a:lvl1pPr>
          </a:lstStyle>
          <a:p>
            <a:r>
              <a:t>The goal is to reduce scattered trip planning</a:t>
            </a:r>
          </a:p>
        </p:txBody>
      </p:sp>
      <p:sp>
        <p:nvSpPr>
          <p:cNvPr id="70" name="Shape 3"/>
          <p:cNvSpPr/>
          <p:nvPr/>
        </p:nvSpPr>
        <p:spPr>
          <a:xfrm>
            <a:off x="411479" y="6419088"/>
            <a:ext cx="11384282" cy="1"/>
          </a:xfrm>
          <a:prstGeom prst="line">
            <a:avLst/>
          </a:prstGeom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1" name="Text 4"/>
          <p:cNvSpPr txBox="1"/>
          <p:nvPr/>
        </p:nvSpPr>
        <p:spPr>
          <a:xfrm>
            <a:off x="502919" y="6543040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5F6B7A"/>
                </a:solidFill>
              </a:defRPr>
            </a:lvl1pPr>
          </a:lstStyle>
          <a:p>
            <a:r>
              <a:t>MyTrip · CS 4398 · Texas State University · Summer 2026</a:t>
            </a:r>
          </a:p>
        </p:txBody>
      </p:sp>
      <p:sp>
        <p:nvSpPr>
          <p:cNvPr id="72" name="Text 5"/>
          <p:cNvSpPr txBox="1"/>
          <p:nvPr/>
        </p:nvSpPr>
        <p:spPr>
          <a:xfrm>
            <a:off x="11384280" y="6529324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5F6B7A"/>
                </a:solidFill>
              </a:defRPr>
            </a:lvl1pPr>
          </a:lstStyle>
          <a:p>
            <a:r>
              <a:t>03</a:t>
            </a:r>
          </a:p>
        </p:txBody>
      </p:sp>
      <p:sp>
        <p:nvSpPr>
          <p:cNvPr id="73" name="Text 6"/>
          <p:cNvSpPr txBox="1"/>
          <p:nvPr/>
        </p:nvSpPr>
        <p:spPr>
          <a:xfrm>
            <a:off x="822960" y="1424939"/>
            <a:ext cx="36576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 b="1">
                <a:solidFill>
                  <a:srgbClr val="C53030"/>
                </a:solidFill>
              </a:defRPr>
            </a:lvl1pPr>
          </a:lstStyle>
          <a:p>
            <a:r>
              <a:t>Before MyTrip</a:t>
            </a:r>
          </a:p>
        </p:txBody>
      </p:sp>
      <p:sp>
        <p:nvSpPr>
          <p:cNvPr id="74" name="Text 7"/>
          <p:cNvSpPr txBox="1"/>
          <p:nvPr/>
        </p:nvSpPr>
        <p:spPr>
          <a:xfrm>
            <a:off x="914399" y="1874520"/>
            <a:ext cx="4389122" cy="182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" tIns="380" rIns="380" bIns="380">
            <a:normAutofit/>
          </a:bodyPr>
          <a:lstStyle/>
          <a:p>
            <a:pPr>
              <a:defRPr>
                <a:solidFill>
                  <a:srgbClr val="1F2937"/>
                </a:solidFill>
              </a:defRPr>
            </a:pPr>
            <a:r>
              <a:t>• Maps on one website</a:t>
            </a:r>
          </a:p>
          <a:p>
            <a:pPr>
              <a:defRPr>
                <a:solidFill>
                  <a:srgbClr val="1F2937"/>
                </a:solidFill>
              </a:defRPr>
            </a:pPr>
            <a:r>
              <a:t>• Hotels on another website</a:t>
            </a:r>
          </a:p>
          <a:p>
            <a:pPr>
              <a:defRPr>
                <a:solidFill>
                  <a:srgbClr val="1F2937"/>
                </a:solidFill>
              </a:defRPr>
            </a:pPr>
            <a:r>
              <a:t>• Gas prices somewhere else</a:t>
            </a:r>
          </a:p>
          <a:p>
            <a:pPr>
              <a:defRPr>
                <a:solidFill>
                  <a:srgbClr val="1F2937"/>
                </a:solidFill>
              </a:defRPr>
            </a:pPr>
            <a:r>
              <a:t>• Budget math done manually</a:t>
            </a:r>
          </a:p>
        </p:txBody>
      </p:sp>
      <p:sp>
        <p:nvSpPr>
          <p:cNvPr id="75" name="Shape 8"/>
          <p:cNvSpPr/>
          <p:nvPr/>
        </p:nvSpPr>
        <p:spPr>
          <a:xfrm>
            <a:off x="5394959" y="2286000"/>
            <a:ext cx="1097281" cy="0"/>
          </a:xfrm>
          <a:prstGeom prst="line">
            <a:avLst/>
          </a:prstGeom>
          <a:ln w="25400">
            <a:solidFill>
              <a:srgbClr val="5F6B7A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6" name="Text 9"/>
          <p:cNvSpPr txBox="1"/>
          <p:nvPr/>
        </p:nvSpPr>
        <p:spPr>
          <a:xfrm>
            <a:off x="6492240" y="1424939"/>
            <a:ext cx="36576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 b="1">
                <a:solidFill>
                  <a:srgbClr val="2F855A"/>
                </a:solidFill>
              </a:defRPr>
            </a:lvl1pPr>
          </a:lstStyle>
          <a:p>
            <a:r>
              <a:t>With MyTrip</a:t>
            </a:r>
          </a:p>
        </p:txBody>
      </p:sp>
      <p:sp>
        <p:nvSpPr>
          <p:cNvPr id="77" name="Text 10"/>
          <p:cNvSpPr txBox="1"/>
          <p:nvPr/>
        </p:nvSpPr>
        <p:spPr>
          <a:xfrm>
            <a:off x="6583680" y="1874520"/>
            <a:ext cx="4389121" cy="182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" tIns="380" rIns="380" bIns="380">
            <a:normAutofit/>
          </a:bodyPr>
          <a:lstStyle/>
          <a:p>
            <a:pPr>
              <a:defRPr>
                <a:solidFill>
                  <a:srgbClr val="1F2937"/>
                </a:solidFill>
              </a:defRPr>
            </a:pPr>
            <a:r>
              <a:t>• Route display</a:t>
            </a:r>
          </a:p>
          <a:p>
            <a:pPr>
              <a:defRPr>
                <a:solidFill>
                  <a:srgbClr val="1F2937"/>
                </a:solidFill>
              </a:defRPr>
            </a:pPr>
            <a:r>
              <a:t>• Cost estimation</a:t>
            </a:r>
          </a:p>
          <a:p>
            <a:pPr>
              <a:defRPr>
                <a:solidFill>
                  <a:srgbClr val="1F2937"/>
                </a:solidFill>
              </a:defRPr>
            </a:pPr>
            <a:r>
              <a:t>• Budget comparison</a:t>
            </a:r>
          </a:p>
          <a:p>
            <a:pPr>
              <a:defRPr>
                <a:solidFill>
                  <a:srgbClr val="1F2937"/>
                </a:solidFill>
              </a:defRPr>
            </a:pPr>
            <a:r>
              <a:t>• Saved trip plans</a:t>
            </a:r>
          </a:p>
        </p:txBody>
      </p:sp>
      <p:sp>
        <p:nvSpPr>
          <p:cNvPr id="78" name="Shape 11"/>
          <p:cNvSpPr/>
          <p:nvPr/>
        </p:nvSpPr>
        <p:spPr>
          <a:xfrm>
            <a:off x="914400" y="4663440"/>
            <a:ext cx="10332720" cy="822961"/>
          </a:xfrm>
          <a:prstGeom prst="roundRect">
            <a:avLst>
              <a:gd name="adj" fmla="val 8889"/>
            </a:avLst>
          </a:prstGeom>
          <a:solidFill>
            <a:srgbClr val="F5F7FA"/>
          </a:solidFill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9" name="Text 12"/>
          <p:cNvSpPr txBox="1"/>
          <p:nvPr/>
        </p:nvSpPr>
        <p:spPr>
          <a:xfrm>
            <a:off x="1142999" y="4898644"/>
            <a:ext cx="9875522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17324D"/>
                </a:solidFill>
              </a:defRPr>
            </a:lvl1pPr>
          </a:lstStyle>
          <a:p>
            <a:r>
              <a:t>Main idea: help travelers understand the route and cost before committing to a trip.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 txBox="1"/>
          <p:nvPr/>
        </p:nvSpPr>
        <p:spPr>
          <a:xfrm>
            <a:off x="502919" y="335280"/>
            <a:ext cx="41148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200"/>
            </a:lvl1pPr>
          </a:lstStyle>
          <a:p>
            <a:r>
              <a:t>✅</a:t>
            </a:r>
          </a:p>
        </p:txBody>
      </p:sp>
      <p:sp>
        <p:nvSpPr>
          <p:cNvPr id="82" name="Text 1"/>
          <p:cNvSpPr txBox="1"/>
          <p:nvPr/>
        </p:nvSpPr>
        <p:spPr>
          <a:xfrm>
            <a:off x="1005839" y="298703"/>
            <a:ext cx="987552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5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t>Main features</a:t>
            </a:r>
          </a:p>
        </p:txBody>
      </p:sp>
      <p:sp>
        <p:nvSpPr>
          <p:cNvPr id="83" name="Text 2"/>
          <p:cNvSpPr txBox="1"/>
          <p:nvPr/>
        </p:nvSpPr>
        <p:spPr>
          <a:xfrm>
            <a:off x="1024127" y="820928"/>
            <a:ext cx="987552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F6B7A"/>
                </a:solidFill>
              </a:defRPr>
            </a:lvl1pPr>
          </a:lstStyle>
          <a:p>
            <a:r>
              <a:t>Implemented features kept simple for the prototype</a:t>
            </a:r>
          </a:p>
        </p:txBody>
      </p:sp>
      <p:sp>
        <p:nvSpPr>
          <p:cNvPr id="84" name="Shape 3"/>
          <p:cNvSpPr/>
          <p:nvPr/>
        </p:nvSpPr>
        <p:spPr>
          <a:xfrm>
            <a:off x="411479" y="6419088"/>
            <a:ext cx="11384282" cy="1"/>
          </a:xfrm>
          <a:prstGeom prst="line">
            <a:avLst/>
          </a:prstGeom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5" name="Text 4"/>
          <p:cNvSpPr txBox="1"/>
          <p:nvPr/>
        </p:nvSpPr>
        <p:spPr>
          <a:xfrm>
            <a:off x="502919" y="6543040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5F6B7A"/>
                </a:solidFill>
              </a:defRPr>
            </a:lvl1pPr>
          </a:lstStyle>
          <a:p>
            <a:r>
              <a:t>MyTrip · CS 4398 · Texas State University · Summer 2026</a:t>
            </a:r>
          </a:p>
        </p:txBody>
      </p:sp>
      <p:sp>
        <p:nvSpPr>
          <p:cNvPr id="86" name="Text 5"/>
          <p:cNvSpPr txBox="1"/>
          <p:nvPr/>
        </p:nvSpPr>
        <p:spPr>
          <a:xfrm>
            <a:off x="11384280" y="6529324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5F6B7A"/>
                </a:solidFill>
              </a:defRPr>
            </a:lvl1pPr>
          </a:lstStyle>
          <a:p>
            <a:r>
              <a:t>04</a:t>
            </a:r>
          </a:p>
        </p:txBody>
      </p:sp>
      <p:sp>
        <p:nvSpPr>
          <p:cNvPr id="87" name="Shape 6"/>
          <p:cNvSpPr/>
          <p:nvPr/>
        </p:nvSpPr>
        <p:spPr>
          <a:xfrm>
            <a:off x="777240" y="1417319"/>
            <a:ext cx="3063240" cy="1417321"/>
          </a:xfrm>
          <a:prstGeom prst="roundRect">
            <a:avLst>
              <a:gd name="adj" fmla="val 7742"/>
            </a:avLst>
          </a:prstGeom>
          <a:solidFill>
            <a:srgbClr val="EAF4FF"/>
          </a:solidFill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8" name="Text 7"/>
          <p:cNvSpPr txBox="1"/>
          <p:nvPr/>
        </p:nvSpPr>
        <p:spPr>
          <a:xfrm>
            <a:off x="941832" y="1557781"/>
            <a:ext cx="411481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/>
            </a:lvl1pPr>
          </a:lstStyle>
          <a:p>
            <a:r>
              <a:t>🗺️</a:t>
            </a:r>
          </a:p>
        </p:txBody>
      </p:sp>
      <p:sp>
        <p:nvSpPr>
          <p:cNvPr id="89" name="Text 8"/>
          <p:cNvSpPr txBox="1"/>
          <p:nvPr/>
        </p:nvSpPr>
        <p:spPr>
          <a:xfrm>
            <a:off x="1435608" y="1586483"/>
            <a:ext cx="224028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17324D"/>
                </a:solidFill>
              </a:defRPr>
            </a:lvl1pPr>
          </a:lstStyle>
          <a:p>
            <a:r>
              <a:t>Route display</a:t>
            </a:r>
          </a:p>
        </p:txBody>
      </p:sp>
      <p:sp>
        <p:nvSpPr>
          <p:cNvPr id="90" name="Text 9"/>
          <p:cNvSpPr txBox="1"/>
          <p:nvPr/>
        </p:nvSpPr>
        <p:spPr>
          <a:xfrm>
            <a:off x="1435608" y="1920239"/>
            <a:ext cx="2240280" cy="82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" tIns="253" rIns="253" bIns="253" anchor="ctr">
            <a:normAutofit/>
          </a:bodyPr>
          <a:lstStyle>
            <a:lvl1pPr>
              <a:defRPr sz="1100">
                <a:solidFill>
                  <a:srgbClr val="1F2937"/>
                </a:solidFill>
              </a:defRPr>
            </a:lvl1pPr>
          </a:lstStyle>
          <a:p>
            <a:r>
              <a:t>Google Maps shows the trip route.</a:t>
            </a:r>
          </a:p>
        </p:txBody>
      </p:sp>
      <p:sp>
        <p:nvSpPr>
          <p:cNvPr id="91" name="Shape 10"/>
          <p:cNvSpPr/>
          <p:nvPr/>
        </p:nvSpPr>
        <p:spPr>
          <a:xfrm>
            <a:off x="4343400" y="1417319"/>
            <a:ext cx="3063240" cy="1417321"/>
          </a:xfrm>
          <a:prstGeom prst="roundRect">
            <a:avLst>
              <a:gd name="adj" fmla="val 7742"/>
            </a:avLst>
          </a:prstGeom>
          <a:solidFill>
            <a:srgbClr val="E9F8F8"/>
          </a:solidFill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2" name="Text 11"/>
          <p:cNvSpPr txBox="1"/>
          <p:nvPr/>
        </p:nvSpPr>
        <p:spPr>
          <a:xfrm>
            <a:off x="4507991" y="1557781"/>
            <a:ext cx="411481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/>
            </a:lvl1pPr>
          </a:lstStyle>
          <a:p>
            <a:r>
              <a:t>📍</a:t>
            </a:r>
          </a:p>
        </p:txBody>
      </p:sp>
      <p:sp>
        <p:nvSpPr>
          <p:cNvPr id="93" name="Text 12"/>
          <p:cNvSpPr txBox="1"/>
          <p:nvPr/>
        </p:nvSpPr>
        <p:spPr>
          <a:xfrm>
            <a:off x="5001767" y="1586483"/>
            <a:ext cx="22402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17324D"/>
                </a:solidFill>
              </a:defRPr>
            </a:lvl1pPr>
          </a:lstStyle>
          <a:p>
            <a:r>
              <a:t>Waypoint</a:t>
            </a:r>
          </a:p>
        </p:txBody>
      </p:sp>
      <p:sp>
        <p:nvSpPr>
          <p:cNvPr id="94" name="Text 13"/>
          <p:cNvSpPr txBox="1"/>
          <p:nvPr/>
        </p:nvSpPr>
        <p:spPr>
          <a:xfrm>
            <a:off x="5001767" y="1920239"/>
            <a:ext cx="2240281" cy="82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" tIns="253" rIns="253" bIns="253" anchor="ctr">
            <a:normAutofit/>
          </a:bodyPr>
          <a:lstStyle>
            <a:lvl1pPr>
              <a:defRPr sz="1100">
                <a:solidFill>
                  <a:srgbClr val="1F2937"/>
                </a:solidFill>
              </a:defRPr>
            </a:lvl1pPr>
          </a:lstStyle>
          <a:p>
            <a:r>
              <a:t>Optional stop between start and destination.</a:t>
            </a:r>
          </a:p>
        </p:txBody>
      </p:sp>
      <p:sp>
        <p:nvSpPr>
          <p:cNvPr id="95" name="Shape 14"/>
          <p:cNvSpPr/>
          <p:nvPr/>
        </p:nvSpPr>
        <p:spPr>
          <a:xfrm>
            <a:off x="7909559" y="1417319"/>
            <a:ext cx="3063241" cy="1417321"/>
          </a:xfrm>
          <a:prstGeom prst="roundRect">
            <a:avLst>
              <a:gd name="adj" fmla="val 7742"/>
            </a:avLst>
          </a:prstGeom>
          <a:solidFill>
            <a:srgbClr val="EAF4FF"/>
          </a:solidFill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6" name="Text 15"/>
          <p:cNvSpPr txBox="1"/>
          <p:nvPr/>
        </p:nvSpPr>
        <p:spPr>
          <a:xfrm>
            <a:off x="8074152" y="1557781"/>
            <a:ext cx="411481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/>
            </a:lvl1pPr>
          </a:lstStyle>
          <a:p>
            <a:r>
              <a:t>⛽</a:t>
            </a:r>
          </a:p>
        </p:txBody>
      </p:sp>
      <p:sp>
        <p:nvSpPr>
          <p:cNvPr id="97" name="Text 16"/>
          <p:cNvSpPr txBox="1"/>
          <p:nvPr/>
        </p:nvSpPr>
        <p:spPr>
          <a:xfrm>
            <a:off x="8567928" y="1586483"/>
            <a:ext cx="22402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17324D"/>
                </a:solidFill>
              </a:defRPr>
            </a:lvl1pPr>
          </a:lstStyle>
          <a:p>
            <a:r>
              <a:t>Fuel cost</a:t>
            </a:r>
          </a:p>
        </p:txBody>
      </p:sp>
      <p:sp>
        <p:nvSpPr>
          <p:cNvPr id="98" name="Text 17"/>
          <p:cNvSpPr txBox="1"/>
          <p:nvPr/>
        </p:nvSpPr>
        <p:spPr>
          <a:xfrm>
            <a:off x="8567928" y="1920239"/>
            <a:ext cx="2240281" cy="82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" tIns="253" rIns="253" bIns="253" anchor="ctr">
            <a:normAutofit/>
          </a:bodyPr>
          <a:lstStyle>
            <a:lvl1pPr>
              <a:defRPr sz="1100">
                <a:solidFill>
                  <a:srgbClr val="1F2937"/>
                </a:solidFill>
              </a:defRPr>
            </a:lvl1pPr>
          </a:lstStyle>
          <a:p>
            <a:r>
              <a:t>Mileage, MPG, and gas price estimate fuel cost.</a:t>
            </a:r>
          </a:p>
        </p:txBody>
      </p:sp>
      <p:sp>
        <p:nvSpPr>
          <p:cNvPr id="99" name="Shape 18"/>
          <p:cNvSpPr/>
          <p:nvPr/>
        </p:nvSpPr>
        <p:spPr>
          <a:xfrm>
            <a:off x="777240" y="365760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E9F8F8"/>
          </a:solidFill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0" name="Text 19"/>
          <p:cNvSpPr txBox="1"/>
          <p:nvPr/>
        </p:nvSpPr>
        <p:spPr>
          <a:xfrm>
            <a:off x="941832" y="3798061"/>
            <a:ext cx="411481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/>
            </a:lvl1pPr>
          </a:lstStyle>
          <a:p>
            <a:r>
              <a:t>💵</a:t>
            </a:r>
          </a:p>
        </p:txBody>
      </p:sp>
      <p:sp>
        <p:nvSpPr>
          <p:cNvPr id="101" name="Text 20"/>
          <p:cNvSpPr txBox="1"/>
          <p:nvPr/>
        </p:nvSpPr>
        <p:spPr>
          <a:xfrm>
            <a:off x="1435608" y="3826763"/>
            <a:ext cx="224028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17324D"/>
                </a:solidFill>
              </a:defRPr>
            </a:lvl1pPr>
          </a:lstStyle>
          <a:p>
            <a:r>
              <a:t>Budget</a:t>
            </a:r>
          </a:p>
        </p:txBody>
      </p:sp>
      <p:sp>
        <p:nvSpPr>
          <p:cNvPr id="102" name="Text 21"/>
          <p:cNvSpPr txBox="1"/>
          <p:nvPr/>
        </p:nvSpPr>
        <p:spPr>
          <a:xfrm>
            <a:off x="1435608" y="4160520"/>
            <a:ext cx="2240280" cy="82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" tIns="253" rIns="253" bIns="253" anchor="ctr">
            <a:normAutofit/>
          </a:bodyPr>
          <a:lstStyle>
            <a:lvl1pPr>
              <a:defRPr sz="1100">
                <a:solidFill>
                  <a:srgbClr val="1F2937"/>
                </a:solidFill>
              </a:defRPr>
            </a:lvl1pPr>
          </a:lstStyle>
          <a:p>
            <a:r>
              <a:t>Total cost is compared to the target budget.</a:t>
            </a:r>
          </a:p>
        </p:txBody>
      </p:sp>
      <p:sp>
        <p:nvSpPr>
          <p:cNvPr id="103" name="Shape 22"/>
          <p:cNvSpPr/>
          <p:nvPr/>
        </p:nvSpPr>
        <p:spPr>
          <a:xfrm>
            <a:off x="4343400" y="365760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EAF4FF"/>
          </a:solidFill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4" name="Text 23"/>
          <p:cNvSpPr txBox="1"/>
          <p:nvPr/>
        </p:nvSpPr>
        <p:spPr>
          <a:xfrm>
            <a:off x="4507991" y="3798061"/>
            <a:ext cx="411481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/>
            </a:lvl1pPr>
          </a:lstStyle>
          <a:p>
            <a:r>
              <a:t>💾</a:t>
            </a:r>
          </a:p>
        </p:txBody>
      </p:sp>
      <p:sp>
        <p:nvSpPr>
          <p:cNvPr id="105" name="Text 24"/>
          <p:cNvSpPr txBox="1"/>
          <p:nvPr/>
        </p:nvSpPr>
        <p:spPr>
          <a:xfrm>
            <a:off x="5001767" y="3826763"/>
            <a:ext cx="22402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17324D"/>
                </a:solidFill>
              </a:defRPr>
            </a:lvl1pPr>
          </a:lstStyle>
          <a:p>
            <a:r>
              <a:t>Saved trips</a:t>
            </a:r>
          </a:p>
        </p:txBody>
      </p:sp>
      <p:sp>
        <p:nvSpPr>
          <p:cNvPr id="106" name="Text 25"/>
          <p:cNvSpPr txBox="1"/>
          <p:nvPr/>
        </p:nvSpPr>
        <p:spPr>
          <a:xfrm>
            <a:off x="5001767" y="4160520"/>
            <a:ext cx="2240281" cy="82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" tIns="253" rIns="253" bIns="253" anchor="ctr">
            <a:normAutofit/>
          </a:bodyPr>
          <a:lstStyle>
            <a:lvl1pPr>
              <a:defRPr sz="1100">
                <a:solidFill>
                  <a:srgbClr val="1F2937"/>
                </a:solidFill>
              </a:defRPr>
            </a:lvl1pPr>
          </a:lstStyle>
          <a:p>
            <a:r>
              <a:rPr dirty="0"/>
              <a:t>Trips can be saved, reopened</a:t>
            </a:r>
            <a:r>
              <a:rPr lang="en-US" dirty="0"/>
              <a:t>, edited, updated</a:t>
            </a:r>
            <a:r>
              <a:rPr dirty="0"/>
              <a:t>, and deleted.</a:t>
            </a:r>
          </a:p>
        </p:txBody>
      </p:sp>
      <p:sp>
        <p:nvSpPr>
          <p:cNvPr id="107" name="Shape 26"/>
          <p:cNvSpPr/>
          <p:nvPr/>
        </p:nvSpPr>
        <p:spPr>
          <a:xfrm>
            <a:off x="7909559" y="3657600"/>
            <a:ext cx="3063241" cy="1417320"/>
          </a:xfrm>
          <a:prstGeom prst="roundRect">
            <a:avLst>
              <a:gd name="adj" fmla="val 7742"/>
            </a:avLst>
          </a:prstGeom>
          <a:solidFill>
            <a:srgbClr val="E9F8F8"/>
          </a:solidFill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8" name="Text 27"/>
          <p:cNvSpPr txBox="1"/>
          <p:nvPr/>
        </p:nvSpPr>
        <p:spPr>
          <a:xfrm>
            <a:off x="8074152" y="3798061"/>
            <a:ext cx="411481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/>
            </a:lvl1pPr>
          </a:lstStyle>
          <a:p>
            <a:r>
              <a:t>👤</a:t>
            </a:r>
          </a:p>
        </p:txBody>
      </p:sp>
      <p:sp>
        <p:nvSpPr>
          <p:cNvPr id="109" name="Text 28"/>
          <p:cNvSpPr txBox="1"/>
          <p:nvPr/>
        </p:nvSpPr>
        <p:spPr>
          <a:xfrm>
            <a:off x="8567928" y="3826763"/>
            <a:ext cx="22402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17324D"/>
                </a:solidFill>
              </a:defRPr>
            </a:lvl1pPr>
          </a:lstStyle>
          <a:p>
            <a:r>
              <a:t>Account filter</a:t>
            </a:r>
          </a:p>
        </p:txBody>
      </p:sp>
      <p:sp>
        <p:nvSpPr>
          <p:cNvPr id="110" name="Text 29"/>
          <p:cNvSpPr txBox="1"/>
          <p:nvPr/>
        </p:nvSpPr>
        <p:spPr>
          <a:xfrm>
            <a:off x="8567928" y="4160520"/>
            <a:ext cx="2240281" cy="82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" tIns="253" rIns="253" bIns="253" anchor="ctr">
            <a:normAutofit/>
          </a:bodyPr>
          <a:lstStyle>
            <a:lvl1pPr>
              <a:defRPr sz="1100">
                <a:solidFill>
                  <a:srgbClr val="1F2937"/>
                </a:solidFill>
              </a:defRPr>
            </a:lvl1pPr>
          </a:lstStyle>
          <a:p>
            <a:r>
              <a:t>Saved trips are filtered by traveler email.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 txBox="1"/>
          <p:nvPr/>
        </p:nvSpPr>
        <p:spPr>
          <a:xfrm>
            <a:off x="502919" y="335280"/>
            <a:ext cx="41148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200"/>
            </a:lvl1pPr>
          </a:lstStyle>
          <a:p>
            <a:r>
              <a:t>🖥️</a:t>
            </a:r>
          </a:p>
        </p:txBody>
      </p:sp>
      <p:sp>
        <p:nvSpPr>
          <p:cNvPr id="113" name="Text 1"/>
          <p:cNvSpPr txBox="1"/>
          <p:nvPr/>
        </p:nvSpPr>
        <p:spPr>
          <a:xfrm>
            <a:off x="1005839" y="298703"/>
            <a:ext cx="987552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5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t>Website walkthrough</a:t>
            </a:r>
          </a:p>
        </p:txBody>
      </p:sp>
      <p:sp>
        <p:nvSpPr>
          <p:cNvPr id="114" name="Text 2"/>
          <p:cNvSpPr txBox="1"/>
          <p:nvPr/>
        </p:nvSpPr>
        <p:spPr>
          <a:xfrm>
            <a:off x="1024127" y="820928"/>
            <a:ext cx="987552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F6B7A"/>
                </a:solidFill>
              </a:defRPr>
            </a:lvl1pPr>
          </a:lstStyle>
          <a:p>
            <a:r>
              <a:t>The interface moves through clear pages</a:t>
            </a:r>
          </a:p>
        </p:txBody>
      </p:sp>
      <p:sp>
        <p:nvSpPr>
          <p:cNvPr id="115" name="Shape 3"/>
          <p:cNvSpPr/>
          <p:nvPr/>
        </p:nvSpPr>
        <p:spPr>
          <a:xfrm>
            <a:off x="411479" y="6419088"/>
            <a:ext cx="11384282" cy="1"/>
          </a:xfrm>
          <a:prstGeom prst="line">
            <a:avLst/>
          </a:prstGeom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6" name="Text 4"/>
          <p:cNvSpPr txBox="1"/>
          <p:nvPr/>
        </p:nvSpPr>
        <p:spPr>
          <a:xfrm>
            <a:off x="502919" y="6543040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5F6B7A"/>
                </a:solidFill>
              </a:defRPr>
            </a:lvl1pPr>
          </a:lstStyle>
          <a:p>
            <a:r>
              <a:t>MyTrip · CS 4398 · Texas State University · Summer 2026</a:t>
            </a:r>
          </a:p>
        </p:txBody>
      </p:sp>
      <p:sp>
        <p:nvSpPr>
          <p:cNvPr id="117" name="Text 5"/>
          <p:cNvSpPr txBox="1"/>
          <p:nvPr/>
        </p:nvSpPr>
        <p:spPr>
          <a:xfrm>
            <a:off x="11384280" y="6529324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5F6B7A"/>
                </a:solidFill>
              </a:defRPr>
            </a:lvl1pPr>
          </a:lstStyle>
          <a:p>
            <a:r>
              <a:t>05</a:t>
            </a:r>
          </a:p>
        </p:txBody>
      </p:sp>
      <p:sp>
        <p:nvSpPr>
          <p:cNvPr id="118" name="Shape 6"/>
          <p:cNvSpPr/>
          <p:nvPr/>
        </p:nvSpPr>
        <p:spPr>
          <a:xfrm>
            <a:off x="594359" y="1508760"/>
            <a:ext cx="3611881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19" name="Image 0" descr="Image 0"/>
          <p:cNvPicPr>
            <a:picLocks noChangeAspect="1"/>
          </p:cNvPicPr>
          <p:nvPr/>
        </p:nvPicPr>
        <p:blipFill>
          <a:blip r:embed="rId2"/>
          <a:srcRect t="1727" b="1727"/>
          <a:stretch>
            <a:fillRect/>
          </a:stretch>
        </p:blipFill>
        <p:spPr>
          <a:xfrm>
            <a:off x="621791" y="1536191"/>
            <a:ext cx="3557017" cy="1956818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Shape 7"/>
          <p:cNvSpPr/>
          <p:nvPr/>
        </p:nvSpPr>
        <p:spPr>
          <a:xfrm>
            <a:off x="960119" y="1170432"/>
            <a:ext cx="1828801" cy="310897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240">
            <a:solidFill>
              <a:srgbClr val="2B6CB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1" name="Text 8"/>
          <p:cNvSpPr txBox="1"/>
          <p:nvPr/>
        </p:nvSpPr>
        <p:spPr>
          <a:xfrm>
            <a:off x="1033272" y="1237741"/>
            <a:ext cx="168249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 b="1">
                <a:solidFill>
                  <a:srgbClr val="2B6CB0"/>
                </a:solidFill>
              </a:defRPr>
            </a:lvl1pPr>
          </a:lstStyle>
          <a:p>
            <a:r>
              <a:t>1 · Plan Route</a:t>
            </a:r>
          </a:p>
        </p:txBody>
      </p:sp>
      <p:sp>
        <p:nvSpPr>
          <p:cNvPr id="122" name="Shape 9"/>
          <p:cNvSpPr/>
          <p:nvPr/>
        </p:nvSpPr>
        <p:spPr>
          <a:xfrm>
            <a:off x="4297679" y="1508760"/>
            <a:ext cx="3611881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23" name="Image 1" descr="Image 1"/>
          <p:cNvPicPr>
            <a:picLocks noChangeAspect="1"/>
          </p:cNvPicPr>
          <p:nvPr/>
        </p:nvPicPr>
        <p:blipFill>
          <a:blip r:embed="rId3"/>
          <a:srcRect t="411" b="411"/>
          <a:stretch>
            <a:fillRect/>
          </a:stretch>
        </p:blipFill>
        <p:spPr>
          <a:xfrm>
            <a:off x="4325111" y="1536191"/>
            <a:ext cx="3557017" cy="1956818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Shape 10"/>
          <p:cNvSpPr/>
          <p:nvPr/>
        </p:nvSpPr>
        <p:spPr>
          <a:xfrm>
            <a:off x="4663440" y="1170432"/>
            <a:ext cx="1965961" cy="310897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240">
            <a:solidFill>
              <a:srgbClr val="2FA4A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5" name="Text 11"/>
          <p:cNvSpPr txBox="1"/>
          <p:nvPr/>
        </p:nvSpPr>
        <p:spPr>
          <a:xfrm>
            <a:off x="4736591" y="1237741"/>
            <a:ext cx="181965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 b="1">
                <a:solidFill>
                  <a:srgbClr val="2FA4A9"/>
                </a:solidFill>
              </a:defRPr>
            </a:lvl1pPr>
          </a:lstStyle>
          <a:p>
            <a:r>
              <a:t>2 · Route Options</a:t>
            </a:r>
          </a:p>
        </p:txBody>
      </p:sp>
      <p:sp>
        <p:nvSpPr>
          <p:cNvPr id="126" name="Shape 12"/>
          <p:cNvSpPr/>
          <p:nvPr/>
        </p:nvSpPr>
        <p:spPr>
          <a:xfrm>
            <a:off x="8001000" y="150876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27" name="Image 2" descr="Image 2"/>
          <p:cNvPicPr>
            <a:picLocks noChangeAspect="1"/>
          </p:cNvPicPr>
          <p:nvPr/>
        </p:nvPicPr>
        <p:blipFill>
          <a:blip r:embed="rId4"/>
          <a:srcRect t="2741" b="2741"/>
          <a:stretch>
            <a:fillRect/>
          </a:stretch>
        </p:blipFill>
        <p:spPr>
          <a:xfrm>
            <a:off x="8028431" y="1536191"/>
            <a:ext cx="3557017" cy="1956818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Shape 13"/>
          <p:cNvSpPr/>
          <p:nvPr/>
        </p:nvSpPr>
        <p:spPr>
          <a:xfrm>
            <a:off x="8366759" y="1170432"/>
            <a:ext cx="1554481" cy="310897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240">
            <a:solidFill>
              <a:srgbClr val="2F855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9" name="Text 14"/>
          <p:cNvSpPr txBox="1"/>
          <p:nvPr/>
        </p:nvSpPr>
        <p:spPr>
          <a:xfrm>
            <a:off x="8439911" y="1237741"/>
            <a:ext cx="140817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 b="1">
                <a:solidFill>
                  <a:srgbClr val="2F855A"/>
                </a:solidFill>
              </a:defRPr>
            </a:lvl1pPr>
          </a:lstStyle>
          <a:p>
            <a:r>
              <a:t>3 · Summary</a:t>
            </a:r>
          </a:p>
        </p:txBody>
      </p:sp>
      <p:sp>
        <p:nvSpPr>
          <p:cNvPr id="130" name="Shape 15"/>
          <p:cNvSpPr/>
          <p:nvPr/>
        </p:nvSpPr>
        <p:spPr>
          <a:xfrm>
            <a:off x="2377439" y="4160520"/>
            <a:ext cx="3611881" cy="1508761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31" name="Image 3" descr="Image 3"/>
          <p:cNvPicPr>
            <a:picLocks noChangeAspect="1"/>
          </p:cNvPicPr>
          <p:nvPr/>
        </p:nvPicPr>
        <p:blipFill>
          <a:blip r:embed="rId5"/>
          <a:srcRect l="10559" r="10559"/>
          <a:stretch>
            <a:fillRect/>
          </a:stretch>
        </p:blipFill>
        <p:spPr>
          <a:xfrm>
            <a:off x="2404872" y="4187952"/>
            <a:ext cx="3557016" cy="1453897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Shape 16"/>
          <p:cNvSpPr/>
          <p:nvPr/>
        </p:nvSpPr>
        <p:spPr>
          <a:xfrm>
            <a:off x="2743200" y="3749040"/>
            <a:ext cx="1508761" cy="310897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240">
            <a:solidFill>
              <a:srgbClr val="17324D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3" name="Text 17"/>
          <p:cNvSpPr txBox="1"/>
          <p:nvPr/>
        </p:nvSpPr>
        <p:spPr>
          <a:xfrm>
            <a:off x="2816351" y="3816349"/>
            <a:ext cx="136245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 b="1">
                <a:solidFill>
                  <a:srgbClr val="17324D"/>
                </a:solidFill>
              </a:defRPr>
            </a:lvl1pPr>
          </a:lstStyle>
          <a:p>
            <a:r>
              <a:t>4 · Account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 txBox="1"/>
          <p:nvPr/>
        </p:nvSpPr>
        <p:spPr>
          <a:xfrm>
            <a:off x="502919" y="335280"/>
            <a:ext cx="41148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200"/>
            </a:lvl1pPr>
          </a:lstStyle>
          <a:p>
            <a:r>
              <a:t>🏗️</a:t>
            </a:r>
          </a:p>
        </p:txBody>
      </p:sp>
      <p:sp>
        <p:nvSpPr>
          <p:cNvPr id="136" name="Text 1"/>
          <p:cNvSpPr txBox="1"/>
          <p:nvPr/>
        </p:nvSpPr>
        <p:spPr>
          <a:xfrm>
            <a:off x="1005839" y="298703"/>
            <a:ext cx="987552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5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t>System structure</a:t>
            </a:r>
          </a:p>
        </p:txBody>
      </p:sp>
      <p:sp>
        <p:nvSpPr>
          <p:cNvPr id="137" name="Text 2"/>
          <p:cNvSpPr txBox="1"/>
          <p:nvPr/>
        </p:nvSpPr>
        <p:spPr>
          <a:xfrm>
            <a:off x="1024127" y="820928"/>
            <a:ext cx="987552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F6B7A"/>
                </a:solidFill>
              </a:defRPr>
            </a:lvl1pPr>
          </a:lstStyle>
          <a:p>
            <a:r>
              <a:t>Layered design used by the application</a:t>
            </a:r>
          </a:p>
        </p:txBody>
      </p:sp>
      <p:sp>
        <p:nvSpPr>
          <p:cNvPr id="138" name="Shape 3"/>
          <p:cNvSpPr/>
          <p:nvPr/>
        </p:nvSpPr>
        <p:spPr>
          <a:xfrm>
            <a:off x="411479" y="6419088"/>
            <a:ext cx="11384282" cy="1"/>
          </a:xfrm>
          <a:prstGeom prst="line">
            <a:avLst/>
          </a:prstGeom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9" name="Text 4"/>
          <p:cNvSpPr txBox="1"/>
          <p:nvPr/>
        </p:nvSpPr>
        <p:spPr>
          <a:xfrm>
            <a:off x="502919" y="6543040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5F6B7A"/>
                </a:solidFill>
              </a:defRPr>
            </a:lvl1pPr>
          </a:lstStyle>
          <a:p>
            <a:r>
              <a:t>MyTrip · CS 4398 · Texas State University · Summer 2026</a:t>
            </a:r>
          </a:p>
        </p:txBody>
      </p:sp>
      <p:sp>
        <p:nvSpPr>
          <p:cNvPr id="140" name="Text 5"/>
          <p:cNvSpPr txBox="1"/>
          <p:nvPr/>
        </p:nvSpPr>
        <p:spPr>
          <a:xfrm>
            <a:off x="11384280" y="6529324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5F6B7A"/>
                </a:solidFill>
              </a:defRPr>
            </a:lvl1pPr>
          </a:lstStyle>
          <a:p>
            <a:r>
              <a:t>06</a:t>
            </a:r>
          </a:p>
        </p:txBody>
      </p:sp>
      <p:sp>
        <p:nvSpPr>
          <p:cNvPr id="141" name="Shape 6"/>
          <p:cNvSpPr/>
          <p:nvPr/>
        </p:nvSpPr>
        <p:spPr>
          <a:xfrm>
            <a:off x="594359" y="1143000"/>
            <a:ext cx="11018521" cy="5074921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42" name="Image 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943100" y="1178815"/>
            <a:ext cx="8227110" cy="503910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 txBox="1"/>
          <p:nvPr/>
        </p:nvSpPr>
        <p:spPr>
          <a:xfrm>
            <a:off x="502919" y="335280"/>
            <a:ext cx="41148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200"/>
            </a:lvl1pPr>
          </a:lstStyle>
          <a:p>
            <a:r>
              <a:t>🧩</a:t>
            </a:r>
          </a:p>
        </p:txBody>
      </p:sp>
      <p:sp>
        <p:nvSpPr>
          <p:cNvPr id="145" name="Text 1"/>
          <p:cNvSpPr txBox="1"/>
          <p:nvPr/>
        </p:nvSpPr>
        <p:spPr>
          <a:xfrm>
            <a:off x="1005839" y="298703"/>
            <a:ext cx="987552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5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t>UML class diagram</a:t>
            </a:r>
          </a:p>
        </p:txBody>
      </p:sp>
      <p:sp>
        <p:nvSpPr>
          <p:cNvPr id="146" name="Text 2"/>
          <p:cNvSpPr txBox="1"/>
          <p:nvPr/>
        </p:nvSpPr>
        <p:spPr>
          <a:xfrm>
            <a:off x="1024127" y="820928"/>
            <a:ext cx="987552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F6B7A"/>
                </a:solidFill>
              </a:defRPr>
            </a:lvl1pPr>
          </a:lstStyle>
          <a:p>
            <a:r>
              <a:t>Main classes and relationships</a:t>
            </a:r>
          </a:p>
        </p:txBody>
      </p:sp>
      <p:sp>
        <p:nvSpPr>
          <p:cNvPr id="147" name="Shape 3"/>
          <p:cNvSpPr/>
          <p:nvPr/>
        </p:nvSpPr>
        <p:spPr>
          <a:xfrm>
            <a:off x="411479" y="6419088"/>
            <a:ext cx="11384282" cy="1"/>
          </a:xfrm>
          <a:prstGeom prst="line">
            <a:avLst/>
          </a:prstGeom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8" name="Text 4"/>
          <p:cNvSpPr txBox="1"/>
          <p:nvPr/>
        </p:nvSpPr>
        <p:spPr>
          <a:xfrm>
            <a:off x="502919" y="6543040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5F6B7A"/>
                </a:solidFill>
              </a:defRPr>
            </a:lvl1pPr>
          </a:lstStyle>
          <a:p>
            <a:r>
              <a:t>MyTrip · CS 4398 · Texas State University · Summer 2026</a:t>
            </a:r>
          </a:p>
        </p:txBody>
      </p:sp>
      <p:sp>
        <p:nvSpPr>
          <p:cNvPr id="149" name="Text 5"/>
          <p:cNvSpPr txBox="1"/>
          <p:nvPr/>
        </p:nvSpPr>
        <p:spPr>
          <a:xfrm>
            <a:off x="11384280" y="6529324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5F6B7A"/>
                </a:solidFill>
              </a:defRPr>
            </a:lvl1pPr>
          </a:lstStyle>
          <a:p>
            <a:r>
              <a:t>07</a:t>
            </a:r>
          </a:p>
        </p:txBody>
      </p:sp>
      <p:sp>
        <p:nvSpPr>
          <p:cNvPr id="150" name="Shape 6"/>
          <p:cNvSpPr/>
          <p:nvPr/>
        </p:nvSpPr>
        <p:spPr>
          <a:xfrm>
            <a:off x="502919" y="1097280"/>
            <a:ext cx="11201401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4C5CF6-F812-13C2-3DF3-A3F5C64B9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4" y="2172360"/>
            <a:ext cx="10899649" cy="287247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4CEF1-6AF1-BA11-CEDF-0DB93E2DA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>
            <a:extLst>
              <a:ext uri="{FF2B5EF4-FFF2-40B4-BE49-F238E27FC236}">
                <a16:creationId xmlns:a16="http://schemas.microsoft.com/office/drawing/2014/main" id="{95A18080-2134-2494-394C-F08EE9F2CA20}"/>
              </a:ext>
            </a:extLst>
          </p:cNvPr>
          <p:cNvSpPr txBox="1"/>
          <p:nvPr/>
        </p:nvSpPr>
        <p:spPr>
          <a:xfrm>
            <a:off x="502919" y="335280"/>
            <a:ext cx="41148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200"/>
            </a:lvl1pPr>
          </a:lstStyle>
          <a:p>
            <a:r>
              <a:t>🧩</a:t>
            </a:r>
          </a:p>
        </p:txBody>
      </p:sp>
      <p:sp>
        <p:nvSpPr>
          <p:cNvPr id="145" name="Text 1">
            <a:extLst>
              <a:ext uri="{FF2B5EF4-FFF2-40B4-BE49-F238E27FC236}">
                <a16:creationId xmlns:a16="http://schemas.microsoft.com/office/drawing/2014/main" id="{CAFD375E-BCE8-6792-B97E-3FDE6F7670AA}"/>
              </a:ext>
            </a:extLst>
          </p:cNvPr>
          <p:cNvSpPr txBox="1"/>
          <p:nvPr/>
        </p:nvSpPr>
        <p:spPr>
          <a:xfrm>
            <a:off x="1005839" y="298703"/>
            <a:ext cx="987552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5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rPr lang="en-US" dirty="0"/>
              <a:t>Lifecycle </a:t>
            </a:r>
            <a:r>
              <a:rPr lang="en-US" dirty="0" err="1"/>
              <a:t>Statechart</a:t>
            </a:r>
            <a:endParaRPr dirty="0"/>
          </a:p>
        </p:txBody>
      </p:sp>
      <p:sp>
        <p:nvSpPr>
          <p:cNvPr id="146" name="Text 2">
            <a:extLst>
              <a:ext uri="{FF2B5EF4-FFF2-40B4-BE49-F238E27FC236}">
                <a16:creationId xmlns:a16="http://schemas.microsoft.com/office/drawing/2014/main" id="{809404B1-386B-5787-A47A-4F4A202767F6}"/>
              </a:ext>
            </a:extLst>
          </p:cNvPr>
          <p:cNvSpPr txBox="1"/>
          <p:nvPr/>
        </p:nvSpPr>
        <p:spPr>
          <a:xfrm>
            <a:off x="1024127" y="820928"/>
            <a:ext cx="987552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F6B7A"/>
                </a:solidFill>
              </a:defRPr>
            </a:lvl1pPr>
          </a:lstStyle>
          <a:p>
            <a:r>
              <a:t>Main classes and relationships</a:t>
            </a:r>
          </a:p>
        </p:txBody>
      </p:sp>
      <p:sp>
        <p:nvSpPr>
          <p:cNvPr id="147" name="Shape 3">
            <a:extLst>
              <a:ext uri="{FF2B5EF4-FFF2-40B4-BE49-F238E27FC236}">
                <a16:creationId xmlns:a16="http://schemas.microsoft.com/office/drawing/2014/main" id="{DB5453F4-E6FF-8BB7-44C8-E34F69404C4D}"/>
              </a:ext>
            </a:extLst>
          </p:cNvPr>
          <p:cNvSpPr/>
          <p:nvPr/>
        </p:nvSpPr>
        <p:spPr>
          <a:xfrm>
            <a:off x="411479" y="6419088"/>
            <a:ext cx="11384282" cy="1"/>
          </a:xfrm>
          <a:prstGeom prst="line">
            <a:avLst/>
          </a:prstGeom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8" name="Text 4">
            <a:extLst>
              <a:ext uri="{FF2B5EF4-FFF2-40B4-BE49-F238E27FC236}">
                <a16:creationId xmlns:a16="http://schemas.microsoft.com/office/drawing/2014/main" id="{39ACCC83-5FA8-EBB6-3286-15AB88D34ADB}"/>
              </a:ext>
            </a:extLst>
          </p:cNvPr>
          <p:cNvSpPr txBox="1"/>
          <p:nvPr/>
        </p:nvSpPr>
        <p:spPr>
          <a:xfrm>
            <a:off x="502919" y="6543040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5F6B7A"/>
                </a:solidFill>
              </a:defRPr>
            </a:lvl1pPr>
          </a:lstStyle>
          <a:p>
            <a:r>
              <a:t>MyTrip · CS 4398 · Texas State University · Summer 2026</a:t>
            </a:r>
          </a:p>
        </p:txBody>
      </p:sp>
      <p:sp>
        <p:nvSpPr>
          <p:cNvPr id="149" name="Text 5">
            <a:extLst>
              <a:ext uri="{FF2B5EF4-FFF2-40B4-BE49-F238E27FC236}">
                <a16:creationId xmlns:a16="http://schemas.microsoft.com/office/drawing/2014/main" id="{6CA953E9-0FC5-D9B2-721A-D19F76C9E582}"/>
              </a:ext>
            </a:extLst>
          </p:cNvPr>
          <p:cNvSpPr txBox="1"/>
          <p:nvPr/>
        </p:nvSpPr>
        <p:spPr>
          <a:xfrm>
            <a:off x="11384280" y="6529324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5F6B7A"/>
                </a:solidFill>
              </a:defRPr>
            </a:lvl1pPr>
          </a:lstStyle>
          <a:p>
            <a:r>
              <a:t>07</a:t>
            </a:r>
          </a:p>
        </p:txBody>
      </p:sp>
      <p:sp>
        <p:nvSpPr>
          <p:cNvPr id="150" name="Shape 6">
            <a:extLst>
              <a:ext uri="{FF2B5EF4-FFF2-40B4-BE49-F238E27FC236}">
                <a16:creationId xmlns:a16="http://schemas.microsoft.com/office/drawing/2014/main" id="{3DEEDDDB-92A0-6C77-8412-447D5688FA6C}"/>
              </a:ext>
            </a:extLst>
          </p:cNvPr>
          <p:cNvSpPr/>
          <p:nvPr/>
        </p:nvSpPr>
        <p:spPr>
          <a:xfrm>
            <a:off x="502919" y="1097280"/>
            <a:ext cx="11201401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183A10-8AA3-C674-075A-B64223C9B6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28" y="1379728"/>
            <a:ext cx="8653878" cy="465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8817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 txBox="1"/>
          <p:nvPr/>
        </p:nvSpPr>
        <p:spPr>
          <a:xfrm>
            <a:off x="502919" y="335280"/>
            <a:ext cx="41148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200"/>
            </a:lvl1pPr>
          </a:lstStyle>
          <a:p>
            <a:r>
              <a:t>🧮</a:t>
            </a:r>
          </a:p>
        </p:txBody>
      </p:sp>
      <p:sp>
        <p:nvSpPr>
          <p:cNvPr id="154" name="Text 1"/>
          <p:cNvSpPr txBox="1"/>
          <p:nvPr/>
        </p:nvSpPr>
        <p:spPr>
          <a:xfrm>
            <a:off x="1005839" y="298703"/>
            <a:ext cx="987552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5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t>Algorithms</a:t>
            </a:r>
          </a:p>
        </p:txBody>
      </p:sp>
      <p:sp>
        <p:nvSpPr>
          <p:cNvPr id="155" name="Text 2"/>
          <p:cNvSpPr txBox="1"/>
          <p:nvPr/>
        </p:nvSpPr>
        <p:spPr>
          <a:xfrm>
            <a:off x="1024127" y="820928"/>
            <a:ext cx="987552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F6B7A"/>
                </a:solidFill>
              </a:defRPr>
            </a:lvl1pPr>
          </a:lstStyle>
          <a:p>
            <a:r>
              <a:t>Simple calculations create the trip estimate</a:t>
            </a:r>
          </a:p>
        </p:txBody>
      </p:sp>
      <p:sp>
        <p:nvSpPr>
          <p:cNvPr id="156" name="Shape 3"/>
          <p:cNvSpPr/>
          <p:nvPr/>
        </p:nvSpPr>
        <p:spPr>
          <a:xfrm>
            <a:off x="411479" y="6419088"/>
            <a:ext cx="11384282" cy="1"/>
          </a:xfrm>
          <a:prstGeom prst="line">
            <a:avLst/>
          </a:prstGeom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7" name="Text 4"/>
          <p:cNvSpPr txBox="1"/>
          <p:nvPr/>
        </p:nvSpPr>
        <p:spPr>
          <a:xfrm>
            <a:off x="502919" y="6543040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5F6B7A"/>
                </a:solidFill>
              </a:defRPr>
            </a:lvl1pPr>
          </a:lstStyle>
          <a:p>
            <a:r>
              <a:t>MyTrip · CS 4398 · Texas State University · Summer 2026</a:t>
            </a:r>
          </a:p>
        </p:txBody>
      </p:sp>
      <p:sp>
        <p:nvSpPr>
          <p:cNvPr id="158" name="Text 5"/>
          <p:cNvSpPr txBox="1"/>
          <p:nvPr/>
        </p:nvSpPr>
        <p:spPr>
          <a:xfrm>
            <a:off x="11384280" y="6529324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5F6B7A"/>
                </a:solidFill>
              </a:defRPr>
            </a:lvl1pPr>
          </a:lstStyle>
          <a:p>
            <a:r>
              <a:t>08</a:t>
            </a:r>
          </a:p>
        </p:txBody>
      </p:sp>
      <p:sp>
        <p:nvSpPr>
          <p:cNvPr id="159" name="Text 6"/>
          <p:cNvSpPr txBox="1"/>
          <p:nvPr/>
        </p:nvSpPr>
        <p:spPr>
          <a:xfrm>
            <a:off x="777240" y="1372869"/>
            <a:ext cx="2011679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100" b="1">
                <a:solidFill>
                  <a:srgbClr val="17324D"/>
                </a:solidFill>
              </a:defRPr>
            </a:lvl1pPr>
          </a:lstStyle>
          <a:p>
            <a:r>
              <a:t>Fuel Cost</a:t>
            </a:r>
          </a:p>
        </p:txBody>
      </p:sp>
      <p:sp>
        <p:nvSpPr>
          <p:cNvPr id="160" name="Text 7"/>
          <p:cNvSpPr txBox="1"/>
          <p:nvPr/>
        </p:nvSpPr>
        <p:spPr>
          <a:xfrm>
            <a:off x="777240" y="1695703"/>
            <a:ext cx="5486401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1F2937"/>
                </a:solidFill>
              </a:defRPr>
            </a:lvl1pPr>
          </a:lstStyle>
          <a:p>
            <a:r>
              <a:t>(Route Distance / Vehicle MPG) × Fuel Price Per Gallon</a:t>
            </a:r>
          </a:p>
        </p:txBody>
      </p:sp>
      <p:sp>
        <p:nvSpPr>
          <p:cNvPr id="161" name="Text 8"/>
          <p:cNvSpPr txBox="1"/>
          <p:nvPr/>
        </p:nvSpPr>
        <p:spPr>
          <a:xfrm>
            <a:off x="777239" y="2561590"/>
            <a:ext cx="310896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100" b="1">
                <a:solidFill>
                  <a:srgbClr val="17324D"/>
                </a:solidFill>
              </a:defRPr>
            </a:lvl1pPr>
          </a:lstStyle>
          <a:p>
            <a:r>
              <a:t>Total Estimated Cost</a:t>
            </a:r>
          </a:p>
        </p:txBody>
      </p:sp>
      <p:sp>
        <p:nvSpPr>
          <p:cNvPr id="162" name="Text 9"/>
          <p:cNvSpPr txBox="1"/>
          <p:nvPr/>
        </p:nvSpPr>
        <p:spPr>
          <a:xfrm>
            <a:off x="777239" y="3024123"/>
            <a:ext cx="4937762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1F2937"/>
                </a:solidFill>
              </a:defRPr>
            </a:lvl1pPr>
          </a:lstStyle>
          <a:p>
            <a:r>
              <a:t>Fuel Cost + Lodging Cost + Activity Cost</a:t>
            </a:r>
          </a:p>
        </p:txBody>
      </p:sp>
      <p:sp>
        <p:nvSpPr>
          <p:cNvPr id="163" name="Text 10"/>
          <p:cNvSpPr txBox="1"/>
          <p:nvPr/>
        </p:nvSpPr>
        <p:spPr>
          <a:xfrm>
            <a:off x="777240" y="3750310"/>
            <a:ext cx="27432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100" b="1">
                <a:solidFill>
                  <a:srgbClr val="17324D"/>
                </a:solidFill>
              </a:defRPr>
            </a:lvl1pPr>
          </a:lstStyle>
          <a:p>
            <a:r>
              <a:t>Budget Difference</a:t>
            </a:r>
          </a:p>
        </p:txBody>
      </p:sp>
      <p:sp>
        <p:nvSpPr>
          <p:cNvPr id="164" name="Text 11"/>
          <p:cNvSpPr txBox="1"/>
          <p:nvPr/>
        </p:nvSpPr>
        <p:spPr>
          <a:xfrm>
            <a:off x="777239" y="4212844"/>
            <a:ext cx="4389122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1F2937"/>
                </a:solidFill>
              </a:defRPr>
            </a:lvl1pPr>
          </a:lstStyle>
          <a:p>
            <a:r>
              <a:t>Budget − Total Estimated Cost</a:t>
            </a:r>
          </a:p>
        </p:txBody>
      </p:sp>
      <p:sp>
        <p:nvSpPr>
          <p:cNvPr id="165" name="Shape 12"/>
          <p:cNvSpPr/>
          <p:nvPr/>
        </p:nvSpPr>
        <p:spPr>
          <a:xfrm>
            <a:off x="6446520" y="1417319"/>
            <a:ext cx="4846321" cy="3291842"/>
          </a:xfrm>
          <a:prstGeom prst="roundRect">
            <a:avLst>
              <a:gd name="adj" fmla="val 3333"/>
            </a:avLst>
          </a:prstGeom>
          <a:solidFill>
            <a:srgbClr val="E9F8F8"/>
          </a:solidFill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6" name="Text 13"/>
          <p:cNvSpPr txBox="1"/>
          <p:nvPr/>
        </p:nvSpPr>
        <p:spPr>
          <a:xfrm>
            <a:off x="6720840" y="1738630"/>
            <a:ext cx="429768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100" b="1">
                <a:solidFill>
                  <a:srgbClr val="17324D"/>
                </a:solidFill>
              </a:defRPr>
            </a:lvl1pPr>
          </a:lstStyle>
          <a:p>
            <a:r>
              <a:t>Tested example</a:t>
            </a:r>
          </a:p>
        </p:txBody>
      </p:sp>
      <p:sp>
        <p:nvSpPr>
          <p:cNvPr id="167" name="Text 14"/>
          <p:cNvSpPr txBox="1"/>
          <p:nvPr/>
        </p:nvSpPr>
        <p:spPr>
          <a:xfrm>
            <a:off x="6766559" y="2194560"/>
            <a:ext cx="4160521" cy="20116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" tIns="380" rIns="380" bIns="380">
            <a:norm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• 81.9 miles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• 28 MPG vehicle preset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• $3.38 per gallon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• ≈ $9.89 fuel cost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• Drive time ≈ 1 hr 29 min at 55 MPH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 0"/>
          <p:cNvSpPr txBox="1"/>
          <p:nvPr/>
        </p:nvSpPr>
        <p:spPr>
          <a:xfrm>
            <a:off x="502919" y="335280"/>
            <a:ext cx="41148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200"/>
            </a:lvl1pPr>
          </a:lstStyle>
          <a:p>
            <a:r>
              <a:t>🧪</a:t>
            </a:r>
          </a:p>
        </p:txBody>
      </p:sp>
      <p:sp>
        <p:nvSpPr>
          <p:cNvPr id="170" name="Text 1"/>
          <p:cNvSpPr txBox="1"/>
          <p:nvPr/>
        </p:nvSpPr>
        <p:spPr>
          <a:xfrm>
            <a:off x="1005839" y="298703"/>
            <a:ext cx="987552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5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t>Acceptance testing</a:t>
            </a:r>
          </a:p>
        </p:txBody>
      </p:sp>
      <p:sp>
        <p:nvSpPr>
          <p:cNvPr id="171" name="Text 2"/>
          <p:cNvSpPr txBox="1"/>
          <p:nvPr/>
        </p:nvSpPr>
        <p:spPr>
          <a:xfrm>
            <a:off x="1024127" y="820928"/>
            <a:ext cx="987552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F6B7A"/>
                </a:solidFill>
              </a:defRPr>
            </a:lvl1pPr>
          </a:lstStyle>
          <a:p>
            <a:r>
              <a:t>The main traveler workflow was tested</a:t>
            </a:r>
          </a:p>
        </p:txBody>
      </p:sp>
      <p:sp>
        <p:nvSpPr>
          <p:cNvPr id="172" name="Shape 3"/>
          <p:cNvSpPr/>
          <p:nvPr/>
        </p:nvSpPr>
        <p:spPr>
          <a:xfrm>
            <a:off x="411479" y="6419088"/>
            <a:ext cx="11384282" cy="1"/>
          </a:xfrm>
          <a:prstGeom prst="line">
            <a:avLst/>
          </a:prstGeom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3" name="Text 4"/>
          <p:cNvSpPr txBox="1"/>
          <p:nvPr/>
        </p:nvSpPr>
        <p:spPr>
          <a:xfrm>
            <a:off x="502919" y="6543040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5F6B7A"/>
                </a:solidFill>
              </a:defRPr>
            </a:lvl1pPr>
          </a:lstStyle>
          <a:p>
            <a:r>
              <a:t>MyTrip · CS 4398 · Texas State University · Summer 2026</a:t>
            </a:r>
          </a:p>
        </p:txBody>
      </p:sp>
      <p:sp>
        <p:nvSpPr>
          <p:cNvPr id="174" name="Text 5"/>
          <p:cNvSpPr txBox="1"/>
          <p:nvPr/>
        </p:nvSpPr>
        <p:spPr>
          <a:xfrm>
            <a:off x="11384280" y="6529324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5F6B7A"/>
                </a:solidFill>
              </a:defRPr>
            </a:lvl1pPr>
          </a:lstStyle>
          <a:p>
            <a:r>
              <a:t>09</a:t>
            </a:r>
          </a:p>
        </p:txBody>
      </p:sp>
      <p:sp>
        <p:nvSpPr>
          <p:cNvPr id="175" name="Text 6"/>
          <p:cNvSpPr txBox="1"/>
          <p:nvPr/>
        </p:nvSpPr>
        <p:spPr>
          <a:xfrm>
            <a:off x="868680" y="1469389"/>
            <a:ext cx="274320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400" b="1">
                <a:solidFill>
                  <a:srgbClr val="17324D"/>
                </a:solidFill>
              </a:defRPr>
            </a:lvl1pPr>
          </a:lstStyle>
          <a:p>
            <a:r>
              <a:rPr dirty="0"/>
              <a:t>10</a:t>
            </a:r>
          </a:p>
        </p:txBody>
      </p:sp>
      <p:sp>
        <p:nvSpPr>
          <p:cNvPr id="176" name="Text 7"/>
          <p:cNvSpPr txBox="1"/>
          <p:nvPr/>
        </p:nvSpPr>
        <p:spPr>
          <a:xfrm>
            <a:off x="868680" y="2233676"/>
            <a:ext cx="27432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 b="1">
                <a:solidFill>
                  <a:srgbClr val="1F2937"/>
                </a:solidFill>
              </a:defRPr>
            </a:lvl1pPr>
          </a:lstStyle>
          <a:p>
            <a:r>
              <a:t>TESTS EXECUTED</a:t>
            </a:r>
          </a:p>
        </p:txBody>
      </p:sp>
      <p:sp>
        <p:nvSpPr>
          <p:cNvPr id="177" name="Text 8"/>
          <p:cNvSpPr txBox="1"/>
          <p:nvPr/>
        </p:nvSpPr>
        <p:spPr>
          <a:xfrm>
            <a:off x="868680" y="2513839"/>
            <a:ext cx="274320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400" b="1">
                <a:solidFill>
                  <a:srgbClr val="2F855A"/>
                </a:solidFill>
              </a:defRPr>
            </a:lvl1pPr>
          </a:lstStyle>
          <a:p>
            <a:r>
              <a:rPr dirty="0"/>
              <a:t>10</a:t>
            </a:r>
          </a:p>
        </p:txBody>
      </p:sp>
      <p:sp>
        <p:nvSpPr>
          <p:cNvPr id="178" name="Text 9"/>
          <p:cNvSpPr txBox="1"/>
          <p:nvPr/>
        </p:nvSpPr>
        <p:spPr>
          <a:xfrm>
            <a:off x="868680" y="3278126"/>
            <a:ext cx="27432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 b="1">
                <a:solidFill>
                  <a:srgbClr val="1F2937"/>
                </a:solidFill>
              </a:defRPr>
            </a:lvl1pPr>
          </a:lstStyle>
          <a:p>
            <a:r>
              <a:rPr dirty="0"/>
              <a:t>PASSED</a:t>
            </a:r>
          </a:p>
        </p:txBody>
      </p:sp>
      <p:sp>
        <p:nvSpPr>
          <p:cNvPr id="179" name="Text 10"/>
          <p:cNvSpPr txBox="1"/>
          <p:nvPr/>
        </p:nvSpPr>
        <p:spPr>
          <a:xfrm>
            <a:off x="868680" y="3554223"/>
            <a:ext cx="274320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400" b="1">
                <a:solidFill>
                  <a:srgbClr val="C53030"/>
                </a:solidFill>
              </a:defRPr>
            </a:lvl1pPr>
          </a:lstStyle>
          <a:p>
            <a:r>
              <a:rPr dirty="0"/>
              <a:t>0</a:t>
            </a:r>
          </a:p>
        </p:txBody>
      </p:sp>
      <p:sp>
        <p:nvSpPr>
          <p:cNvPr id="180" name="Text 11"/>
          <p:cNvSpPr txBox="1"/>
          <p:nvPr/>
        </p:nvSpPr>
        <p:spPr>
          <a:xfrm>
            <a:off x="868680" y="4318510"/>
            <a:ext cx="27432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 b="1">
                <a:solidFill>
                  <a:srgbClr val="1F2937"/>
                </a:solidFill>
              </a:defRPr>
            </a:lvl1pPr>
          </a:lstStyle>
          <a:p>
            <a:r>
              <a:t>FAILED</a:t>
            </a:r>
          </a:p>
        </p:txBody>
      </p:sp>
      <p:sp>
        <p:nvSpPr>
          <p:cNvPr id="181" name="Shape 12"/>
          <p:cNvSpPr/>
          <p:nvPr/>
        </p:nvSpPr>
        <p:spPr>
          <a:xfrm>
            <a:off x="868681" y="4845813"/>
            <a:ext cx="2816352" cy="146304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2" name="Text 13"/>
          <p:cNvSpPr txBox="1"/>
          <p:nvPr/>
        </p:nvSpPr>
        <p:spPr>
          <a:xfrm>
            <a:off x="1188719" y="5165853"/>
            <a:ext cx="9555482" cy="82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" tIns="380" rIns="380" bIns="380">
            <a:normAutofit/>
          </a:bodyPr>
          <a:lstStyle/>
          <a:p>
            <a:pPr defTabSz="512063">
              <a:defRPr sz="839">
                <a:solidFill>
                  <a:srgbClr val="1F2937"/>
                </a:solidFill>
              </a:defRPr>
            </a:pPr>
            <a:r>
              <a:rPr dirty="0"/>
              <a:t>• Login and account access</a:t>
            </a:r>
          </a:p>
          <a:p>
            <a:pPr defTabSz="512063">
              <a:defRPr sz="839">
                <a:solidFill>
                  <a:srgbClr val="1F2937"/>
                </a:solidFill>
              </a:defRPr>
            </a:pPr>
            <a:r>
              <a:rPr dirty="0"/>
              <a:t>• Create, calculate, save, reopen, and delete a trip</a:t>
            </a:r>
          </a:p>
          <a:p>
            <a:pPr defTabSz="512063">
              <a:defRPr sz="839">
                <a:solidFill>
                  <a:srgbClr val="1F2937"/>
                </a:solidFill>
              </a:defRPr>
            </a:pPr>
            <a:r>
              <a:rPr dirty="0"/>
              <a:t>• Invalid mileage and invalid budget validation</a:t>
            </a:r>
          </a:p>
          <a:p>
            <a:pPr defTabSz="512063">
              <a:defRPr sz="839">
                <a:solidFill>
                  <a:srgbClr val="1F2937"/>
                </a:solidFill>
              </a:defRPr>
            </a:pPr>
            <a:r>
              <a:rPr dirty="0"/>
              <a:t>• Logged-out save restriction</a:t>
            </a:r>
          </a:p>
          <a:p>
            <a:pPr defTabSz="512063">
              <a:defRPr sz="839">
                <a:solidFill>
                  <a:srgbClr val="1F2937"/>
                </a:solidFill>
              </a:defRPr>
            </a:pPr>
            <a:r>
              <a:rPr dirty="0"/>
              <a:t>• Email-based trip filtering</a:t>
            </a:r>
          </a:p>
        </p:txBody>
      </p:sp>
      <p:sp>
        <p:nvSpPr>
          <p:cNvPr id="183" name="Text 14"/>
          <p:cNvSpPr txBox="1"/>
          <p:nvPr/>
        </p:nvSpPr>
        <p:spPr>
          <a:xfrm>
            <a:off x="1188719" y="5280660"/>
            <a:ext cx="96012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500">
                <a:solidFill>
                  <a:srgbClr val="5F6B7A"/>
                </a:solidFill>
              </a:defRPr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C3EED9-532D-CFA9-9896-38ED64C27EB4}"/>
              </a:ext>
            </a:extLst>
          </p:cNvPr>
          <p:cNvSpPr txBox="1"/>
          <p:nvPr/>
        </p:nvSpPr>
        <p:spPr>
          <a:xfrm>
            <a:off x="868680" y="1119887"/>
            <a:ext cx="2916937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sng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ptos"/>
              </a:rPr>
              <a:t>Manual Acceptance Testing</a:t>
            </a: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9174F026-5DF0-0D0F-E3B1-9F22D082FF0D}"/>
              </a:ext>
            </a:extLst>
          </p:cNvPr>
          <p:cNvSpPr txBox="1"/>
          <p:nvPr/>
        </p:nvSpPr>
        <p:spPr>
          <a:xfrm>
            <a:off x="7568184" y="1489455"/>
            <a:ext cx="274320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400" b="1">
                <a:solidFill>
                  <a:srgbClr val="17324D"/>
                </a:solidFill>
              </a:defRPr>
            </a:lvl1pPr>
          </a:lstStyle>
          <a:p>
            <a:r>
              <a:rPr lang="en-US" dirty="0"/>
              <a:t>29</a:t>
            </a:r>
            <a:endParaRPr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2EA4DDBB-E74F-3561-29B9-A135D8207962}"/>
              </a:ext>
            </a:extLst>
          </p:cNvPr>
          <p:cNvSpPr txBox="1"/>
          <p:nvPr/>
        </p:nvSpPr>
        <p:spPr>
          <a:xfrm>
            <a:off x="7568184" y="2253742"/>
            <a:ext cx="27432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 b="1">
                <a:solidFill>
                  <a:srgbClr val="1F2937"/>
                </a:solidFill>
              </a:defRPr>
            </a:lvl1pPr>
          </a:lstStyle>
          <a:p>
            <a:r>
              <a:t>TESTS EXECUTED</a:t>
            </a: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34BC743-83B3-102C-69FF-D98CCF1CD1F7}"/>
              </a:ext>
            </a:extLst>
          </p:cNvPr>
          <p:cNvSpPr txBox="1"/>
          <p:nvPr/>
        </p:nvSpPr>
        <p:spPr>
          <a:xfrm>
            <a:off x="7568184" y="2533905"/>
            <a:ext cx="274320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400" b="1">
                <a:solidFill>
                  <a:srgbClr val="2F855A"/>
                </a:solidFill>
              </a:defRPr>
            </a:lvl1pPr>
          </a:lstStyle>
          <a:p>
            <a:r>
              <a:rPr lang="en-US" dirty="0"/>
              <a:t>29</a:t>
            </a:r>
            <a:endParaRPr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854C2577-CC82-D5B0-05B6-5F97E05D8A05}"/>
              </a:ext>
            </a:extLst>
          </p:cNvPr>
          <p:cNvSpPr txBox="1"/>
          <p:nvPr/>
        </p:nvSpPr>
        <p:spPr>
          <a:xfrm>
            <a:off x="7568184" y="3298192"/>
            <a:ext cx="27432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 b="1">
                <a:solidFill>
                  <a:srgbClr val="1F2937"/>
                </a:solidFill>
              </a:defRPr>
            </a:lvl1pPr>
          </a:lstStyle>
          <a:p>
            <a:r>
              <a:rPr dirty="0"/>
              <a:t>PASSED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4EF8046-C457-4F85-6F8E-0B6239273614}"/>
              </a:ext>
            </a:extLst>
          </p:cNvPr>
          <p:cNvSpPr txBox="1"/>
          <p:nvPr/>
        </p:nvSpPr>
        <p:spPr>
          <a:xfrm>
            <a:off x="7568184" y="3574289"/>
            <a:ext cx="274320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400" b="1">
                <a:solidFill>
                  <a:srgbClr val="C53030"/>
                </a:solidFill>
              </a:defRPr>
            </a:lvl1pPr>
          </a:lstStyle>
          <a:p>
            <a:r>
              <a:rPr dirty="0"/>
              <a:t>0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BF37B52-C78C-27D1-67DE-0FB46CD59CF1}"/>
              </a:ext>
            </a:extLst>
          </p:cNvPr>
          <p:cNvSpPr txBox="1"/>
          <p:nvPr/>
        </p:nvSpPr>
        <p:spPr>
          <a:xfrm>
            <a:off x="7568184" y="4335144"/>
            <a:ext cx="274320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 b="1">
                <a:solidFill>
                  <a:srgbClr val="1F2937"/>
                </a:solidFill>
              </a:defRPr>
            </a:lvl1pPr>
          </a:lstStyle>
          <a:p>
            <a:r>
              <a:rPr dirty="0"/>
              <a:t>FAIL</a:t>
            </a:r>
            <a:r>
              <a:rPr lang="en-US" dirty="0"/>
              <a:t>URES</a:t>
            </a:r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D99836-A5AE-68D8-1AB7-8C53511A4882}"/>
              </a:ext>
            </a:extLst>
          </p:cNvPr>
          <p:cNvSpPr txBox="1"/>
          <p:nvPr/>
        </p:nvSpPr>
        <p:spPr>
          <a:xfrm>
            <a:off x="7367016" y="1117092"/>
            <a:ext cx="3313177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u="sng" dirty="0"/>
              <a:t>Automated</a:t>
            </a:r>
            <a:r>
              <a:rPr kumimoji="0" lang="en-US" sz="1800" b="0" i="0" u="sng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ptos"/>
              </a:rPr>
              <a:t> Acceptance Testing</a:t>
            </a: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C4E0FB12-3D40-F929-F0A4-EB1E4A0485DA}"/>
              </a:ext>
            </a:extLst>
          </p:cNvPr>
          <p:cNvSpPr txBox="1"/>
          <p:nvPr/>
        </p:nvSpPr>
        <p:spPr>
          <a:xfrm>
            <a:off x="7568184" y="4477956"/>
            <a:ext cx="274320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400" b="1">
                <a:solidFill>
                  <a:srgbClr val="C53030"/>
                </a:solidFill>
              </a:defRPr>
            </a:lvl1pPr>
          </a:lstStyle>
          <a:p>
            <a:r>
              <a:rPr dirty="0"/>
              <a:t>0</a:t>
            </a:r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3E2FF421-11F4-A539-2979-211A7201AFB7}"/>
              </a:ext>
            </a:extLst>
          </p:cNvPr>
          <p:cNvSpPr txBox="1"/>
          <p:nvPr/>
        </p:nvSpPr>
        <p:spPr>
          <a:xfrm>
            <a:off x="7568184" y="5238811"/>
            <a:ext cx="274320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 b="1">
                <a:solidFill>
                  <a:srgbClr val="1F2937"/>
                </a:solidFill>
              </a:defRPr>
            </a:lvl1pPr>
          </a:lstStyle>
          <a:p>
            <a:r>
              <a:rPr lang="en-US" dirty="0"/>
              <a:t>ERRORS</a:t>
            </a: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019179B0-E5A2-0617-C373-C8310918B785}"/>
              </a:ext>
            </a:extLst>
          </p:cNvPr>
          <p:cNvSpPr txBox="1"/>
          <p:nvPr/>
        </p:nvSpPr>
        <p:spPr>
          <a:xfrm>
            <a:off x="7568184" y="5363332"/>
            <a:ext cx="274320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400" b="1">
                <a:solidFill>
                  <a:srgbClr val="C53030"/>
                </a:solidFill>
              </a:defRPr>
            </a:lvl1pPr>
          </a:lstStyle>
          <a:p>
            <a:r>
              <a:rPr dirty="0"/>
              <a:t>0</a:t>
            </a:r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03FB4C5D-43D7-CE02-4B67-094CBC53C91B}"/>
              </a:ext>
            </a:extLst>
          </p:cNvPr>
          <p:cNvSpPr txBox="1"/>
          <p:nvPr/>
        </p:nvSpPr>
        <p:spPr>
          <a:xfrm>
            <a:off x="7568184" y="6124187"/>
            <a:ext cx="274320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 b="1">
                <a:solidFill>
                  <a:srgbClr val="1F2937"/>
                </a:solidFill>
              </a:defRPr>
            </a:lvl1pPr>
          </a:lstStyle>
          <a:p>
            <a:r>
              <a:rPr lang="en-US" dirty="0"/>
              <a:t>SKIPPED</a:t>
            </a:r>
            <a:endParaRPr dirty="0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 0"/>
          <p:cNvSpPr txBox="1"/>
          <p:nvPr/>
        </p:nvSpPr>
        <p:spPr>
          <a:xfrm>
            <a:off x="502919" y="335280"/>
            <a:ext cx="41148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200"/>
            </a:lvl1pPr>
          </a:lstStyle>
          <a:p>
            <a:r>
              <a:t>⚠️</a:t>
            </a:r>
          </a:p>
        </p:txBody>
      </p:sp>
      <p:sp>
        <p:nvSpPr>
          <p:cNvPr id="186" name="Text 1"/>
          <p:cNvSpPr txBox="1"/>
          <p:nvPr/>
        </p:nvSpPr>
        <p:spPr>
          <a:xfrm>
            <a:off x="1005839" y="298703"/>
            <a:ext cx="987552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5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t>Known limitations</a:t>
            </a:r>
          </a:p>
        </p:txBody>
      </p:sp>
      <p:sp>
        <p:nvSpPr>
          <p:cNvPr id="187" name="Text 2"/>
          <p:cNvSpPr txBox="1"/>
          <p:nvPr/>
        </p:nvSpPr>
        <p:spPr>
          <a:xfrm>
            <a:off x="1024127" y="820928"/>
            <a:ext cx="987552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F6B7A"/>
                </a:solidFill>
              </a:defRPr>
            </a:lvl1pPr>
          </a:lstStyle>
          <a:p>
            <a:r>
              <a:t>These are acceptable for the academic prototype</a:t>
            </a:r>
          </a:p>
        </p:txBody>
      </p:sp>
      <p:sp>
        <p:nvSpPr>
          <p:cNvPr id="188" name="Shape 3"/>
          <p:cNvSpPr/>
          <p:nvPr/>
        </p:nvSpPr>
        <p:spPr>
          <a:xfrm>
            <a:off x="411479" y="6419088"/>
            <a:ext cx="11384282" cy="1"/>
          </a:xfrm>
          <a:prstGeom prst="line">
            <a:avLst/>
          </a:prstGeom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9" name="Text 4"/>
          <p:cNvSpPr txBox="1"/>
          <p:nvPr/>
        </p:nvSpPr>
        <p:spPr>
          <a:xfrm>
            <a:off x="502919" y="6543040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5F6B7A"/>
                </a:solidFill>
              </a:defRPr>
            </a:lvl1pPr>
          </a:lstStyle>
          <a:p>
            <a:r>
              <a:t>MyTrip · CS 4398 · Texas State University · Summer 2026</a:t>
            </a:r>
          </a:p>
        </p:txBody>
      </p:sp>
      <p:sp>
        <p:nvSpPr>
          <p:cNvPr id="190" name="Text 5"/>
          <p:cNvSpPr txBox="1"/>
          <p:nvPr/>
        </p:nvSpPr>
        <p:spPr>
          <a:xfrm>
            <a:off x="11384280" y="6529324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5F6B7A"/>
                </a:solidFill>
              </a:defRPr>
            </a:lvl1pPr>
          </a:lstStyle>
          <a:p>
            <a:r>
              <a:t>10</a:t>
            </a:r>
          </a:p>
        </p:txBody>
      </p:sp>
      <p:sp>
        <p:nvSpPr>
          <p:cNvPr id="191" name="Text 6"/>
          <p:cNvSpPr txBox="1"/>
          <p:nvPr/>
        </p:nvSpPr>
        <p:spPr>
          <a:xfrm>
            <a:off x="868680" y="1463040"/>
            <a:ext cx="7909560" cy="3840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" tIns="380" rIns="380" bIns="380">
            <a:normAutofit/>
          </a:bodyPr>
          <a:lstStyle/>
          <a:p>
            <a:pPr>
              <a:defRPr>
                <a:solidFill>
                  <a:srgbClr val="1F2937"/>
                </a:solidFill>
              </a:defRPr>
            </a:pPr>
            <a:r>
              <a:rPr lang="en-US" dirty="0"/>
              <a:t>• Route mileage is entered manually</a:t>
            </a:r>
          </a:p>
          <a:p>
            <a:pPr>
              <a:defRPr>
                <a:solidFill>
                  <a:srgbClr val="1F2937"/>
                </a:solidFill>
              </a:defRPr>
            </a:pPr>
            <a:r>
              <a:rPr lang="en-US" dirty="0"/>
              <a:t>• Drive time uses an average-speed estimate</a:t>
            </a:r>
          </a:p>
          <a:p>
            <a:pPr>
              <a:defRPr>
                <a:solidFill>
                  <a:srgbClr val="1F2937"/>
                </a:solidFill>
              </a:defRPr>
            </a:pPr>
            <a:r>
              <a:rPr lang="en-US" dirty="0"/>
              <a:t>• Hotel, attraction, and gas-station data is simulated</a:t>
            </a:r>
          </a:p>
          <a:p>
            <a:pPr>
              <a:defRPr>
                <a:solidFill>
                  <a:srgbClr val="1F2937"/>
                </a:solidFill>
              </a:defRPr>
            </a:pPr>
            <a:r>
              <a:rPr lang="en-US" dirty="0"/>
              <a:t>• Reservations and payments are simulated</a:t>
            </a:r>
          </a:p>
          <a:p>
            <a:pPr>
              <a:defRPr>
                <a:solidFill>
                  <a:srgbClr val="1F2937"/>
                </a:solidFill>
              </a:defRPr>
            </a:pPr>
            <a:r>
              <a:rPr lang="en-US" dirty="0"/>
              <a:t>• Login and email filtering are demonstration-level, not secure authorization</a:t>
            </a:r>
          </a:p>
          <a:p>
            <a:pPr>
              <a:defRPr>
                <a:solidFill>
                  <a:srgbClr val="1F2937"/>
                </a:solidFill>
              </a:defRPr>
            </a:pPr>
            <a:r>
              <a:rPr lang="en-US" dirty="0"/>
              <a:t>• The H2 database is local to each computer</a:t>
            </a:r>
            <a:endParaRPr dirty="0"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076912-BE3E-9C7B-FCFD-A533045C68B6}"/>
              </a:ext>
            </a:extLst>
          </p:cNvPr>
          <p:cNvSpPr txBox="1"/>
          <p:nvPr/>
        </p:nvSpPr>
        <p:spPr>
          <a:xfrm>
            <a:off x="612648" y="393192"/>
            <a:ext cx="452628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sng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ptos"/>
              </a:rPr>
              <a:t>IDE-Integrated AI Workflow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3041C3-A698-4E1F-F0A7-B15FA43358B9}"/>
              </a:ext>
            </a:extLst>
          </p:cNvPr>
          <p:cNvSpPr txBox="1"/>
          <p:nvPr/>
        </p:nvSpPr>
        <p:spPr>
          <a:xfrm>
            <a:off x="173736" y="1752491"/>
            <a:ext cx="5915914" cy="289309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GitHub Copilot Agent was used directly inside Visual Studio Code during the</a:t>
            </a:r>
          </a:p>
          <a:p>
            <a:r>
              <a:rPr lang="en-US" sz="14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final development and verification phase.</a:t>
            </a:r>
          </a:p>
          <a:p>
            <a:endParaRPr lang="en-US" sz="1400" dirty="0">
              <a:solidFill>
                <a:srgbClr val="000000"/>
              </a:solidFill>
              <a:latin typeface="+mj-lt"/>
              <a:ea typeface="+mj-ea"/>
              <a:cs typeface="+mj-cs"/>
            </a:endParaRPr>
          </a:p>
          <a:p>
            <a:r>
              <a:rPr lang="en-US" sz="14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• Repository instructions: .</a:t>
            </a:r>
            <a:r>
              <a:rPr lang="en-US" sz="1400" dirty="0" err="1">
                <a:solidFill>
                  <a:srgbClr val="000000"/>
                </a:solidFill>
                <a:latin typeface="+mj-lt"/>
                <a:ea typeface="+mj-ea"/>
                <a:cs typeface="+mj-cs"/>
              </a:rPr>
              <a:t>github</a:t>
            </a:r>
            <a:r>
              <a:rPr lang="en-US" sz="14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/copilot-instructions.md</a:t>
            </a:r>
          </a:p>
          <a:p>
            <a:r>
              <a:rPr lang="en-US" sz="14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• Four reusable prompts: .</a:t>
            </a:r>
            <a:r>
              <a:rPr lang="en-US" sz="1400" dirty="0" err="1">
                <a:solidFill>
                  <a:srgbClr val="000000"/>
                </a:solidFill>
                <a:latin typeface="+mj-lt"/>
                <a:ea typeface="+mj-ea"/>
                <a:cs typeface="+mj-cs"/>
              </a:rPr>
              <a:t>github</a:t>
            </a:r>
            <a:r>
              <a:rPr lang="en-US" sz="14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/prompts/</a:t>
            </a:r>
          </a:p>
          <a:p>
            <a:r>
              <a:rPr lang="en-US" sz="14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• Four project context files: ai-context/</a:t>
            </a:r>
          </a:p>
          <a:p>
            <a:r>
              <a:rPr lang="en-US" sz="14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• Corrected zero-distance and zero-budget validation</a:t>
            </a:r>
          </a:p>
          <a:p>
            <a:r>
              <a:rPr lang="en-US" sz="14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• Added regression tests for verified defects</a:t>
            </a:r>
          </a:p>
          <a:p>
            <a:r>
              <a:rPr lang="en-US" sz="14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• Corrected Spring parameter binding through the Java -parameters option</a:t>
            </a:r>
          </a:p>
          <a:p>
            <a:r>
              <a:rPr lang="en-US" sz="14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• Generated the Trip lifecycle </a:t>
            </a:r>
            <a:r>
              <a:rPr lang="en-US" sz="1400" dirty="0" err="1">
                <a:solidFill>
                  <a:srgbClr val="000000"/>
                </a:solidFill>
                <a:latin typeface="+mj-lt"/>
                <a:ea typeface="+mj-ea"/>
                <a:cs typeface="+mj-cs"/>
              </a:rPr>
              <a:t>statechart</a:t>
            </a:r>
            <a:endParaRPr lang="en-US" sz="1400" dirty="0">
              <a:solidFill>
                <a:srgbClr val="000000"/>
              </a:solidFill>
              <a:latin typeface="+mj-lt"/>
              <a:ea typeface="+mj-ea"/>
              <a:cs typeface="+mj-cs"/>
            </a:endParaRPr>
          </a:p>
          <a:p>
            <a:r>
              <a:rPr lang="en-US" sz="14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• Generated the corrected as-built UML class diagram</a:t>
            </a:r>
          </a:p>
          <a:p>
            <a:r>
              <a:rPr lang="en-US" sz="14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• Verified 29 automated tests with 0 failures</a:t>
            </a:r>
          </a:p>
          <a:p>
            <a:r>
              <a:rPr lang="en-US" sz="14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• Exported IDE chats and screenshots are preserved in ai-evidence/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pto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F31A92-2469-81F6-286F-7C93E4B2F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183" y="1638299"/>
            <a:ext cx="5823117" cy="312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09363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 txBox="1"/>
          <p:nvPr/>
        </p:nvSpPr>
        <p:spPr>
          <a:xfrm>
            <a:off x="731519" y="1113790"/>
            <a:ext cx="731521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200"/>
            </a:lvl1pPr>
          </a:lstStyle>
          <a:p>
            <a:r>
              <a:t>❓</a:t>
            </a:r>
          </a:p>
        </p:txBody>
      </p:sp>
      <p:sp>
        <p:nvSpPr>
          <p:cNvPr id="194" name="Text 1"/>
          <p:cNvSpPr txBox="1"/>
          <p:nvPr/>
        </p:nvSpPr>
        <p:spPr>
          <a:xfrm>
            <a:off x="731519" y="1963419"/>
            <a:ext cx="64008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800" b="1">
                <a:solidFill>
                  <a:srgbClr val="17324D"/>
                </a:solidFill>
              </a:defRPr>
            </a:lvl1pPr>
          </a:lstStyle>
          <a:p>
            <a:r>
              <a:t>Questions?</a:t>
            </a:r>
          </a:p>
        </p:txBody>
      </p:sp>
      <p:sp>
        <p:nvSpPr>
          <p:cNvPr id="195" name="Text 2"/>
          <p:cNvSpPr txBox="1"/>
          <p:nvPr/>
        </p:nvSpPr>
        <p:spPr>
          <a:xfrm>
            <a:off x="777240" y="2783840"/>
            <a:ext cx="411480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5F6B7A"/>
                </a:solidFill>
              </a:defRPr>
            </a:lvl1pPr>
          </a:lstStyle>
          <a:p>
            <a:r>
              <a:t>Thank you</a:t>
            </a:r>
          </a:p>
        </p:txBody>
      </p:sp>
      <p:sp>
        <p:nvSpPr>
          <p:cNvPr id="196" name="Text 3"/>
          <p:cNvSpPr txBox="1"/>
          <p:nvPr/>
        </p:nvSpPr>
        <p:spPr>
          <a:xfrm>
            <a:off x="777240" y="3802379"/>
            <a:ext cx="59436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 b="1">
                <a:solidFill>
                  <a:srgbClr val="1F2937"/>
                </a:solidFill>
              </a:defRPr>
            </a:lvl1pPr>
          </a:lstStyle>
          <a:p>
            <a:r>
              <a:t>MyTrip – Budget Road Trip Planner</a:t>
            </a:r>
          </a:p>
        </p:txBody>
      </p:sp>
      <p:sp>
        <p:nvSpPr>
          <p:cNvPr id="197" name="Text 4"/>
          <p:cNvSpPr txBox="1"/>
          <p:nvPr/>
        </p:nvSpPr>
        <p:spPr>
          <a:xfrm>
            <a:off x="777240" y="4229100"/>
            <a:ext cx="68580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5F6B7A"/>
                </a:solidFill>
              </a:defRPr>
            </a:lvl1pPr>
          </a:lstStyle>
          <a:p>
            <a:r>
              <a:t>Mustafa Al Azzawi · Angelica Alvarado · William Parker</a:t>
            </a:r>
          </a:p>
        </p:txBody>
      </p:sp>
      <p:sp>
        <p:nvSpPr>
          <p:cNvPr id="198" name="Shape 5"/>
          <p:cNvSpPr/>
          <p:nvPr/>
        </p:nvSpPr>
        <p:spPr>
          <a:xfrm>
            <a:off x="777240" y="4754879"/>
            <a:ext cx="4754881" cy="1"/>
          </a:xfrm>
          <a:prstGeom prst="line">
            <a:avLst/>
          </a:prstGeom>
          <a:ln w="38100">
            <a:solidFill>
              <a:srgbClr val="2FA4A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9" name="Text 6"/>
          <p:cNvSpPr txBox="1"/>
          <p:nvPr/>
        </p:nvSpPr>
        <p:spPr>
          <a:xfrm>
            <a:off x="777240" y="5016499"/>
            <a:ext cx="68580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17324D"/>
                </a:solidFill>
              </a:defRPr>
            </a:lvl1pPr>
          </a:lstStyle>
          <a:p>
            <a:r>
              <a:t>Plan clearly. Estimate early. Travel within budget.</a:t>
            </a:r>
          </a:p>
        </p:txBody>
      </p:sp>
      <p:sp>
        <p:nvSpPr>
          <p:cNvPr id="200" name="Shape 7"/>
          <p:cNvSpPr/>
          <p:nvPr/>
        </p:nvSpPr>
        <p:spPr>
          <a:xfrm>
            <a:off x="411479" y="6419088"/>
            <a:ext cx="11384282" cy="1"/>
          </a:xfrm>
          <a:prstGeom prst="line">
            <a:avLst/>
          </a:prstGeom>
          <a:ln w="12700">
            <a:solidFill>
              <a:srgbClr val="D5DEE8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1" name="Text 8"/>
          <p:cNvSpPr txBox="1"/>
          <p:nvPr/>
        </p:nvSpPr>
        <p:spPr>
          <a:xfrm>
            <a:off x="502919" y="6543040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5F6B7A"/>
                </a:solidFill>
              </a:defRPr>
            </a:lvl1pPr>
          </a:lstStyle>
          <a:p>
            <a:r>
              <a:t>MyTrip · CS 4398 · Texas State University · Summer 2026</a:t>
            </a:r>
          </a:p>
        </p:txBody>
      </p:sp>
      <p:sp>
        <p:nvSpPr>
          <p:cNvPr id="202" name="Text 9"/>
          <p:cNvSpPr txBox="1"/>
          <p:nvPr/>
        </p:nvSpPr>
        <p:spPr>
          <a:xfrm>
            <a:off x="11384280" y="6529324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5F6B7A"/>
                </a:solidFill>
              </a:defRPr>
            </a:lvl1pPr>
          </a:lstStyle>
          <a:p>
            <a:r>
              <a:t>12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787</Words>
  <Application>Microsoft Office PowerPoint</Application>
  <PresentationFormat>Custom</PresentationFormat>
  <Paragraphs>170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Gavin Parker</cp:lastModifiedBy>
  <cp:revision>3</cp:revision>
  <dcterms:modified xsi:type="dcterms:W3CDTF">2026-07-31T22:52:48Z</dcterms:modified>
</cp:coreProperties>
</file>